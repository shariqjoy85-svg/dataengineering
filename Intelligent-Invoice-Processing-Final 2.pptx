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8" r:id="rId4"/>
  </p:sldMasterIdLst>
  <p:notesMasterIdLst>
    <p:notesMasterId r:id="rId15"/>
  </p:notesMasterIdLst>
  <p:sldIdLst>
    <p:sldId id="262" r:id="rId5"/>
    <p:sldId id="265" r:id="rId6"/>
    <p:sldId id="257" r:id="rId7"/>
    <p:sldId id="258" r:id="rId8"/>
    <p:sldId id="259" r:id="rId9"/>
    <p:sldId id="268" r:id="rId10"/>
    <p:sldId id="261" r:id="rId11"/>
    <p:sldId id="266" r:id="rId12"/>
    <p:sldId id="269" r:id="rId13"/>
    <p:sldId id="264" r:id="rId14"/>
  </p:sldIdLst>
  <p:sldSz cx="14630400" cy="8229600"/>
  <p:notesSz cx="8229600" cy="14630400"/>
  <p:embeddedFontLst>
    <p:embeddedFont>
      <p:font typeface="Amasis MT Pro" panose="02040504050005020304" pitchFamily="18" charset="0"/>
      <p:regular r:id="rId16"/>
      <p:bold r:id="rId17"/>
      <p:italic r:id="rId18"/>
      <p:boldItalic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ABD02B-4E91-48D1-91CA-E4F45D084E21}" v="19" dt="2025-08-11T09:36:53.3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8" d="100"/>
          <a:sy n="48" d="100"/>
        </p:scale>
        <p:origin x="28" y="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2.fntdata"/><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ngh, Manish" userId="49e01936-c836-458b-ba71-4f39cf247863" providerId="ADAL" clId="{6BABD02B-4E91-48D1-91CA-E4F45D084E21}"/>
    <pc:docChg chg="custSel addSld modSld">
      <pc:chgData name="Singh, Manish" userId="49e01936-c836-458b-ba71-4f39cf247863" providerId="ADAL" clId="{6BABD02B-4E91-48D1-91CA-E4F45D084E21}" dt="2025-08-11T09:36:53.331" v="72"/>
      <pc:docMkLst>
        <pc:docMk/>
      </pc:docMkLst>
      <pc:sldChg chg="addSp delSp modSp new mod modAnim">
        <pc:chgData name="Singh, Manish" userId="49e01936-c836-458b-ba71-4f39cf247863" providerId="ADAL" clId="{6BABD02B-4E91-48D1-91CA-E4F45D084E21}" dt="2025-08-11T09:36:53.331" v="72"/>
        <pc:sldMkLst>
          <pc:docMk/>
          <pc:sldMk cId="941901408" sldId="269"/>
        </pc:sldMkLst>
        <pc:spChg chg="add">
          <ac:chgData name="Singh, Manish" userId="49e01936-c836-458b-ba71-4f39cf247863" providerId="ADAL" clId="{6BABD02B-4E91-48D1-91CA-E4F45D084E21}" dt="2025-08-11T09:29:43.267" v="1"/>
          <ac:spMkLst>
            <pc:docMk/>
            <pc:sldMk cId="941901408" sldId="269"/>
            <ac:spMk id="2" creationId="{C1DD7BB5-10AF-7853-EEA1-E4701B7B72C0}"/>
          </ac:spMkLst>
        </pc:spChg>
        <pc:spChg chg="add">
          <ac:chgData name="Singh, Manish" userId="49e01936-c836-458b-ba71-4f39cf247863" providerId="ADAL" clId="{6BABD02B-4E91-48D1-91CA-E4F45D084E21}" dt="2025-08-11T09:29:46.862" v="2"/>
          <ac:spMkLst>
            <pc:docMk/>
            <pc:sldMk cId="941901408" sldId="269"/>
            <ac:spMk id="3" creationId="{4D40E680-561F-E7E8-98D8-89385F7339E4}"/>
          </ac:spMkLst>
        </pc:spChg>
        <pc:spChg chg="add mod">
          <ac:chgData name="Singh, Manish" userId="49e01936-c836-458b-ba71-4f39cf247863" providerId="ADAL" clId="{6BABD02B-4E91-48D1-91CA-E4F45D084E21}" dt="2025-08-11T09:30:17.019" v="41" actId="20577"/>
          <ac:spMkLst>
            <pc:docMk/>
            <pc:sldMk cId="941901408" sldId="269"/>
            <ac:spMk id="4" creationId="{ACEDF77A-2EB2-84D7-037B-B5009FD418DD}"/>
          </ac:spMkLst>
        </pc:spChg>
        <pc:spChg chg="add del mod">
          <ac:chgData name="Singh, Manish" userId="49e01936-c836-458b-ba71-4f39cf247863" providerId="ADAL" clId="{6BABD02B-4E91-48D1-91CA-E4F45D084E21}" dt="2025-08-11T09:30:39" v="46"/>
          <ac:spMkLst>
            <pc:docMk/>
            <pc:sldMk cId="941901408" sldId="269"/>
            <ac:spMk id="5" creationId="{52B7319C-6EA0-3637-D64B-A21619849B37}"/>
          </ac:spMkLst>
        </pc:spChg>
        <pc:spChg chg="add del mod">
          <ac:chgData name="Singh, Manish" userId="49e01936-c836-458b-ba71-4f39cf247863" providerId="ADAL" clId="{6BABD02B-4E91-48D1-91CA-E4F45D084E21}" dt="2025-08-11T09:34:23.098" v="64" actId="478"/>
          <ac:spMkLst>
            <pc:docMk/>
            <pc:sldMk cId="941901408" sldId="269"/>
            <ac:spMk id="6" creationId="{66A4F01F-CF6F-452F-B847-315658BC7271}"/>
          </ac:spMkLst>
        </pc:spChg>
        <pc:spChg chg="add">
          <ac:chgData name="Singh, Manish" userId="49e01936-c836-458b-ba71-4f39cf247863" providerId="ADAL" clId="{6BABD02B-4E91-48D1-91CA-E4F45D084E21}" dt="2025-08-11T09:32:22.635" v="56"/>
          <ac:spMkLst>
            <pc:docMk/>
            <pc:sldMk cId="941901408" sldId="269"/>
            <ac:spMk id="9" creationId="{ED29DD29-9E59-B835-5435-3D26D5DA378A}"/>
          </ac:spMkLst>
        </pc:spChg>
        <pc:spChg chg="add del mod">
          <ac:chgData name="Singh, Manish" userId="49e01936-c836-458b-ba71-4f39cf247863" providerId="ADAL" clId="{6BABD02B-4E91-48D1-91CA-E4F45D084E21}" dt="2025-08-11T09:34:19.331" v="63"/>
          <ac:spMkLst>
            <pc:docMk/>
            <pc:sldMk cId="941901408" sldId="269"/>
            <ac:spMk id="11" creationId="{6AE3B375-8FE7-25AB-1299-320B0E7C4FF1}"/>
          </ac:spMkLst>
        </pc:spChg>
        <pc:spChg chg="add del mod">
          <ac:chgData name="Singh, Manish" userId="49e01936-c836-458b-ba71-4f39cf247863" providerId="ADAL" clId="{6BABD02B-4E91-48D1-91CA-E4F45D084E21}" dt="2025-08-11T09:36:19.811" v="68" actId="478"/>
          <ac:spMkLst>
            <pc:docMk/>
            <pc:sldMk cId="941901408" sldId="269"/>
            <ac:spMk id="12" creationId="{2C087CB9-1F06-7BF3-CF59-9577B209A142}"/>
          </ac:spMkLst>
        </pc:spChg>
        <pc:picChg chg="add del mod">
          <ac:chgData name="Singh, Manish" userId="49e01936-c836-458b-ba71-4f39cf247863" providerId="ADAL" clId="{6BABD02B-4E91-48D1-91CA-E4F45D084E21}" dt="2025-08-11T09:31:52.797" v="54" actId="478"/>
          <ac:picMkLst>
            <pc:docMk/>
            <pc:sldMk cId="941901408" sldId="269"/>
            <ac:picMk id="8" creationId="{3C270089-3F86-1A6F-9126-F16653E0FC74}"/>
          </ac:picMkLst>
        </pc:picChg>
        <pc:picChg chg="add mod">
          <ac:chgData name="Singh, Manish" userId="49e01936-c836-458b-ba71-4f39cf247863" providerId="ADAL" clId="{6BABD02B-4E91-48D1-91CA-E4F45D084E21}" dt="2025-08-11T09:36:47.039" v="71" actId="1076"/>
          <ac:picMkLst>
            <pc:docMk/>
            <pc:sldMk cId="941901408" sldId="269"/>
            <ac:picMk id="13" creationId="{C25749BC-D7F3-93D9-6CD1-B10C8B1FE26B}"/>
          </ac:picMkLst>
        </pc:picChg>
        <pc:picChg chg="add mod">
          <ac:chgData name="Singh, Manish" userId="49e01936-c836-458b-ba71-4f39cf247863" providerId="ADAL" clId="{6BABD02B-4E91-48D1-91CA-E4F45D084E21}" dt="2025-08-11T09:36:53.331" v="72"/>
          <ac:picMkLst>
            <pc:docMk/>
            <pc:sldMk cId="941901408" sldId="269"/>
            <ac:picMk id="14" creationId="{8D644B71-3882-88A0-8499-C3146579062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8367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28822B8-547A-4445-9DA1-EF1E371BF8BD}" type="slidenum">
              <a:rPr lang="en-US" smtClean="0"/>
              <a:t>1</a:t>
            </a:fld>
            <a:endParaRPr lang="en-US"/>
          </a:p>
        </p:txBody>
      </p:sp>
    </p:spTree>
    <p:extLst>
      <p:ext uri="{BB962C8B-B14F-4D97-AF65-F5344CB8AC3E}">
        <p14:creationId xmlns:p14="http://schemas.microsoft.com/office/powerpoint/2010/main" val="3828372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6B7FB-C804-6EAC-24FB-B55E6671A8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B0F15-646F-3302-7C36-E8EAF73820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8B02FA-91E3-9EF6-299E-CB818FC8406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7688755-EB5E-B1D4-B1B3-264259D945B4}"/>
              </a:ext>
            </a:extLst>
          </p:cNvPr>
          <p:cNvSpPr>
            <a:spLocks noGrp="1"/>
          </p:cNvSpPr>
          <p:nvPr>
            <p:ph type="sldNum" sz="quarter" idx="5"/>
          </p:nvPr>
        </p:nvSpPr>
        <p:spPr/>
        <p:txBody>
          <a:bodyPr/>
          <a:lstStyle/>
          <a:p>
            <a:fld id="{228822B8-547A-4445-9DA1-EF1E371BF8BD}" type="slidenum">
              <a:rPr lang="en-US" smtClean="0"/>
              <a:t>2</a:t>
            </a:fld>
            <a:endParaRPr lang="en-US"/>
          </a:p>
        </p:txBody>
      </p:sp>
    </p:spTree>
    <p:extLst>
      <p:ext uri="{BB962C8B-B14F-4D97-AF65-F5344CB8AC3E}">
        <p14:creationId xmlns:p14="http://schemas.microsoft.com/office/powerpoint/2010/main" val="2042898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46D4D-960F-C6B5-CB3B-18B0C0170F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C60B9B-E0A3-27E3-D6F5-82444F2184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80BDD-DA11-E50C-BB14-ECC803161D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9DB6D6-1246-34CA-3302-03C530BB9A89}"/>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979373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1926F-149D-61FC-D146-F69CD2C7D1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6D3B1A-2C92-7470-2C30-7595E48650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B0015D-4085-D4E0-CC87-314F146897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972146-98D4-1913-6E6D-C7386B2FAA4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7454529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8AC9A-65AE-AF2B-1DA3-B74E6B0C26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59E3D8-AA6E-82D3-5B38-0C191B12BF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F08EE1-BFF0-9D95-1F68-AF2D784DF6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960834-9422-8F8F-0CDF-DCD320EB9E4E}"/>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35645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8B5AA-0D68-246E-DAF6-2A964BDB4ED9}"/>
              </a:ext>
            </a:extLst>
          </p:cNvPr>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p>
        </p:txBody>
      </p:sp>
      <p:sp>
        <p:nvSpPr>
          <p:cNvPr id="3" name="Subtitle 2">
            <a:extLst>
              <a:ext uri="{FF2B5EF4-FFF2-40B4-BE49-F238E27FC236}">
                <a16:creationId xmlns:a16="http://schemas.microsoft.com/office/drawing/2014/main" id="{225412E1-3E00-8B8A-1454-F8958A325837}"/>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
        <p:nvSpPr>
          <p:cNvPr id="4" name="Date Placeholder 3">
            <a:extLst>
              <a:ext uri="{FF2B5EF4-FFF2-40B4-BE49-F238E27FC236}">
                <a16:creationId xmlns:a16="http://schemas.microsoft.com/office/drawing/2014/main" id="{887D9271-0731-5C10-4246-891E2C9B4230}"/>
              </a:ext>
            </a:extLst>
          </p:cNvPr>
          <p:cNvSpPr>
            <a:spLocks noGrp="1"/>
          </p:cNvSpPr>
          <p:nvPr>
            <p:ph type="dt" sz="half" idx="10"/>
          </p:nvPr>
        </p:nvSpPr>
        <p:spPr/>
        <p:txBody>
          <a:bodyPr/>
          <a:lstStyle/>
          <a:p>
            <a:fld id="{A6363D86-4F12-4758-A31F-83E54C89CE6A}" type="datetimeFigureOut">
              <a:rPr lang="en-US" smtClean="0"/>
              <a:t>8/11/2025</a:t>
            </a:fld>
            <a:endParaRPr lang="en-US"/>
          </a:p>
        </p:txBody>
      </p:sp>
      <p:sp>
        <p:nvSpPr>
          <p:cNvPr id="5" name="Footer Placeholder 4">
            <a:extLst>
              <a:ext uri="{FF2B5EF4-FFF2-40B4-BE49-F238E27FC236}">
                <a16:creationId xmlns:a16="http://schemas.microsoft.com/office/drawing/2014/main" id="{8D2F55D0-975A-C025-C137-B538C084C3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CC1B9B-B52A-D22F-F323-0D9C9BFC4289}"/>
              </a:ext>
            </a:extLst>
          </p:cNvPr>
          <p:cNvSpPr>
            <a:spLocks noGrp="1"/>
          </p:cNvSpPr>
          <p:nvPr>
            <p:ph type="sldNum" sz="quarter" idx="12"/>
          </p:nvPr>
        </p:nvSpPr>
        <p:spPr/>
        <p:txBody>
          <a:bodyPr/>
          <a:lstStyle/>
          <a:p>
            <a:fld id="{096956BE-CC4A-4D22-B4B1-4168E6DCA4F8}" type="slidenum">
              <a:rPr lang="en-US" smtClean="0"/>
              <a:t>‹#›</a:t>
            </a:fld>
            <a:endParaRPr lang="en-US"/>
          </a:p>
        </p:txBody>
      </p:sp>
    </p:spTree>
    <p:extLst>
      <p:ext uri="{BB962C8B-B14F-4D97-AF65-F5344CB8AC3E}">
        <p14:creationId xmlns:p14="http://schemas.microsoft.com/office/powerpoint/2010/main" val="143077925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CC112-57D3-2D72-671D-F93E66844A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C02492-FD46-EDDA-BD67-A59922DAD7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E8044F-1D2A-FBB9-D5B1-6B45BFFD524A}"/>
              </a:ext>
            </a:extLst>
          </p:cNvPr>
          <p:cNvSpPr>
            <a:spLocks noGrp="1"/>
          </p:cNvSpPr>
          <p:nvPr>
            <p:ph type="dt" sz="half" idx="10"/>
          </p:nvPr>
        </p:nvSpPr>
        <p:spPr/>
        <p:txBody>
          <a:bodyPr/>
          <a:lstStyle/>
          <a:p>
            <a:fld id="{A6363D86-4F12-4758-A31F-83E54C89CE6A}" type="datetimeFigureOut">
              <a:rPr lang="en-US" smtClean="0"/>
              <a:t>8/11/2025</a:t>
            </a:fld>
            <a:endParaRPr lang="en-US"/>
          </a:p>
        </p:txBody>
      </p:sp>
      <p:sp>
        <p:nvSpPr>
          <p:cNvPr id="5" name="Footer Placeholder 4">
            <a:extLst>
              <a:ext uri="{FF2B5EF4-FFF2-40B4-BE49-F238E27FC236}">
                <a16:creationId xmlns:a16="http://schemas.microsoft.com/office/drawing/2014/main" id="{6075B3A5-1E22-5D02-E868-E932917ED1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B65179-12EB-45E2-DE59-EB0FB1877460}"/>
              </a:ext>
            </a:extLst>
          </p:cNvPr>
          <p:cNvSpPr>
            <a:spLocks noGrp="1"/>
          </p:cNvSpPr>
          <p:nvPr>
            <p:ph type="sldNum" sz="quarter" idx="12"/>
          </p:nvPr>
        </p:nvSpPr>
        <p:spPr/>
        <p:txBody>
          <a:bodyPr/>
          <a:lstStyle/>
          <a:p>
            <a:fld id="{096956BE-CC4A-4D22-B4B1-4168E6DCA4F8}" type="slidenum">
              <a:rPr lang="en-US" smtClean="0"/>
              <a:t>‹#›</a:t>
            </a:fld>
            <a:endParaRPr lang="en-US"/>
          </a:p>
        </p:txBody>
      </p:sp>
    </p:spTree>
    <p:extLst>
      <p:ext uri="{BB962C8B-B14F-4D97-AF65-F5344CB8AC3E}">
        <p14:creationId xmlns:p14="http://schemas.microsoft.com/office/powerpoint/2010/main" val="63313341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816B7-79AE-F687-398C-37C66451F8DD}"/>
              </a:ext>
            </a:extLst>
          </p:cNvPr>
          <p:cNvSpPr>
            <a:spLocks noGrp="1"/>
          </p:cNvSpPr>
          <p:nvPr>
            <p:ph type="title"/>
          </p:nvPr>
        </p:nvSpPr>
        <p:spPr>
          <a:xfrm>
            <a:off x="998220" y="2051686"/>
            <a:ext cx="12618720" cy="3423284"/>
          </a:xfrm>
        </p:spPr>
        <p:txBody>
          <a:bodyPr anchor="b"/>
          <a:lstStyle>
            <a:lvl1pPr>
              <a:defRPr sz="7200"/>
            </a:lvl1pPr>
          </a:lstStyle>
          <a:p>
            <a:r>
              <a:rPr lang="en-US"/>
              <a:t>Click to edit Master title style</a:t>
            </a:r>
          </a:p>
        </p:txBody>
      </p:sp>
      <p:sp>
        <p:nvSpPr>
          <p:cNvPr id="3" name="Text Placeholder 2">
            <a:extLst>
              <a:ext uri="{FF2B5EF4-FFF2-40B4-BE49-F238E27FC236}">
                <a16:creationId xmlns:a16="http://schemas.microsoft.com/office/drawing/2014/main" id="{32670344-F5D2-AB1B-CA4A-06D6515B1365}"/>
              </a:ext>
            </a:extLst>
          </p:cNvPr>
          <p:cNvSpPr>
            <a:spLocks noGrp="1"/>
          </p:cNvSpPr>
          <p:nvPr>
            <p:ph type="body" idx="1"/>
          </p:nvPr>
        </p:nvSpPr>
        <p:spPr>
          <a:xfrm>
            <a:off x="998220" y="5507356"/>
            <a:ext cx="12618720" cy="1800224"/>
          </a:xfrm>
        </p:spPr>
        <p:txBody>
          <a:bodyPr/>
          <a:lstStyle>
            <a:lvl1pPr marL="0" indent="0">
              <a:buNone/>
              <a:defRPr sz="2880">
                <a:solidFill>
                  <a:schemeClr val="tx1">
                    <a:tint val="82000"/>
                  </a:schemeClr>
                </a:solidFill>
              </a:defRPr>
            </a:lvl1pPr>
            <a:lvl2pPr marL="548640" indent="0">
              <a:buNone/>
              <a:defRPr sz="2400">
                <a:solidFill>
                  <a:schemeClr val="tx1">
                    <a:tint val="82000"/>
                  </a:schemeClr>
                </a:solidFill>
              </a:defRPr>
            </a:lvl2pPr>
            <a:lvl3pPr marL="1097280" indent="0">
              <a:buNone/>
              <a:defRPr sz="2160">
                <a:solidFill>
                  <a:schemeClr val="tx1">
                    <a:tint val="82000"/>
                  </a:schemeClr>
                </a:solidFill>
              </a:defRPr>
            </a:lvl3pPr>
            <a:lvl4pPr marL="1645920" indent="0">
              <a:buNone/>
              <a:defRPr sz="1920">
                <a:solidFill>
                  <a:schemeClr val="tx1">
                    <a:tint val="82000"/>
                  </a:schemeClr>
                </a:solidFill>
              </a:defRPr>
            </a:lvl4pPr>
            <a:lvl5pPr marL="2194560" indent="0">
              <a:buNone/>
              <a:defRPr sz="1920">
                <a:solidFill>
                  <a:schemeClr val="tx1">
                    <a:tint val="82000"/>
                  </a:schemeClr>
                </a:solidFill>
              </a:defRPr>
            </a:lvl5pPr>
            <a:lvl6pPr marL="2743200" indent="0">
              <a:buNone/>
              <a:defRPr sz="1920">
                <a:solidFill>
                  <a:schemeClr val="tx1">
                    <a:tint val="82000"/>
                  </a:schemeClr>
                </a:solidFill>
              </a:defRPr>
            </a:lvl6pPr>
            <a:lvl7pPr marL="3291840" indent="0">
              <a:buNone/>
              <a:defRPr sz="1920">
                <a:solidFill>
                  <a:schemeClr val="tx1">
                    <a:tint val="82000"/>
                  </a:schemeClr>
                </a:solidFill>
              </a:defRPr>
            </a:lvl7pPr>
            <a:lvl8pPr marL="3840480" indent="0">
              <a:buNone/>
              <a:defRPr sz="1920">
                <a:solidFill>
                  <a:schemeClr val="tx1">
                    <a:tint val="82000"/>
                  </a:schemeClr>
                </a:solidFill>
              </a:defRPr>
            </a:lvl8pPr>
            <a:lvl9pPr marL="4389120" indent="0">
              <a:buNone/>
              <a:defRPr sz="192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C1AD92-4FF6-1658-5198-2B4A5C3B92DD}"/>
              </a:ext>
            </a:extLst>
          </p:cNvPr>
          <p:cNvSpPr>
            <a:spLocks noGrp="1"/>
          </p:cNvSpPr>
          <p:nvPr>
            <p:ph type="dt" sz="half" idx="10"/>
          </p:nvPr>
        </p:nvSpPr>
        <p:spPr/>
        <p:txBody>
          <a:bodyPr/>
          <a:lstStyle/>
          <a:p>
            <a:fld id="{A6363D86-4F12-4758-A31F-83E54C89CE6A}" type="datetimeFigureOut">
              <a:rPr lang="en-US" smtClean="0"/>
              <a:t>8/11/2025</a:t>
            </a:fld>
            <a:endParaRPr lang="en-US"/>
          </a:p>
        </p:txBody>
      </p:sp>
      <p:sp>
        <p:nvSpPr>
          <p:cNvPr id="5" name="Footer Placeholder 4">
            <a:extLst>
              <a:ext uri="{FF2B5EF4-FFF2-40B4-BE49-F238E27FC236}">
                <a16:creationId xmlns:a16="http://schemas.microsoft.com/office/drawing/2014/main" id="{6868D293-8630-6874-52E1-DAB4BA1F55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12D8F6-8CA3-E9D5-B63B-A9316F1E94E9}"/>
              </a:ext>
            </a:extLst>
          </p:cNvPr>
          <p:cNvSpPr>
            <a:spLocks noGrp="1"/>
          </p:cNvSpPr>
          <p:nvPr>
            <p:ph type="sldNum" sz="quarter" idx="12"/>
          </p:nvPr>
        </p:nvSpPr>
        <p:spPr/>
        <p:txBody>
          <a:bodyPr/>
          <a:lstStyle/>
          <a:p>
            <a:fld id="{096956BE-CC4A-4D22-B4B1-4168E6DCA4F8}" type="slidenum">
              <a:rPr lang="en-US" smtClean="0"/>
              <a:t>‹#›</a:t>
            </a:fld>
            <a:endParaRPr lang="en-US"/>
          </a:p>
        </p:txBody>
      </p:sp>
    </p:spTree>
    <p:extLst>
      <p:ext uri="{BB962C8B-B14F-4D97-AF65-F5344CB8AC3E}">
        <p14:creationId xmlns:p14="http://schemas.microsoft.com/office/powerpoint/2010/main" val="201045915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F1473-EF57-2BF6-C36E-6BEB323B62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F204A2-324D-3730-A6E8-43F372CBA8F0}"/>
              </a:ext>
            </a:extLst>
          </p:cNvPr>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898BC8-C525-F807-191F-5653BD472CE5}"/>
              </a:ext>
            </a:extLst>
          </p:cNvPr>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70BA0A-492F-1AF1-E65C-7DDDA59DA431}"/>
              </a:ext>
            </a:extLst>
          </p:cNvPr>
          <p:cNvSpPr>
            <a:spLocks noGrp="1"/>
          </p:cNvSpPr>
          <p:nvPr>
            <p:ph type="dt" sz="half" idx="10"/>
          </p:nvPr>
        </p:nvSpPr>
        <p:spPr/>
        <p:txBody>
          <a:bodyPr/>
          <a:lstStyle/>
          <a:p>
            <a:fld id="{A6363D86-4F12-4758-A31F-83E54C89CE6A}" type="datetimeFigureOut">
              <a:rPr lang="en-US" smtClean="0"/>
              <a:t>8/11/2025</a:t>
            </a:fld>
            <a:endParaRPr lang="en-US"/>
          </a:p>
        </p:txBody>
      </p:sp>
      <p:sp>
        <p:nvSpPr>
          <p:cNvPr id="6" name="Footer Placeholder 5">
            <a:extLst>
              <a:ext uri="{FF2B5EF4-FFF2-40B4-BE49-F238E27FC236}">
                <a16:creationId xmlns:a16="http://schemas.microsoft.com/office/drawing/2014/main" id="{E650C7E1-6F0F-366D-3457-BAF878BF4D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7B68AC-2EDB-5243-0936-3A1D6235C840}"/>
              </a:ext>
            </a:extLst>
          </p:cNvPr>
          <p:cNvSpPr>
            <a:spLocks noGrp="1"/>
          </p:cNvSpPr>
          <p:nvPr>
            <p:ph type="sldNum" sz="quarter" idx="12"/>
          </p:nvPr>
        </p:nvSpPr>
        <p:spPr/>
        <p:txBody>
          <a:bodyPr/>
          <a:lstStyle/>
          <a:p>
            <a:fld id="{096956BE-CC4A-4D22-B4B1-4168E6DCA4F8}" type="slidenum">
              <a:rPr lang="en-US" smtClean="0"/>
              <a:t>‹#›</a:t>
            </a:fld>
            <a:endParaRPr lang="en-US"/>
          </a:p>
        </p:txBody>
      </p:sp>
    </p:spTree>
    <p:extLst>
      <p:ext uri="{BB962C8B-B14F-4D97-AF65-F5344CB8AC3E}">
        <p14:creationId xmlns:p14="http://schemas.microsoft.com/office/powerpoint/2010/main" val="138005737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18A63-53F7-35E3-29B5-A9CD3A99A8AA}"/>
              </a:ext>
            </a:extLst>
          </p:cNvPr>
          <p:cNvSpPr>
            <a:spLocks noGrp="1"/>
          </p:cNvSpPr>
          <p:nvPr>
            <p:ph type="title"/>
          </p:nvPr>
        </p:nvSpPr>
        <p:spPr>
          <a:xfrm>
            <a:off x="1007746" y="438150"/>
            <a:ext cx="12618720" cy="1590676"/>
          </a:xfrm>
        </p:spPr>
        <p:txBody>
          <a:bodyPr/>
          <a:lstStyle/>
          <a:p>
            <a:r>
              <a:rPr lang="en-US"/>
              <a:t>Click to edit Master title style</a:t>
            </a:r>
          </a:p>
        </p:txBody>
      </p:sp>
      <p:sp>
        <p:nvSpPr>
          <p:cNvPr id="3" name="Text Placeholder 2">
            <a:extLst>
              <a:ext uri="{FF2B5EF4-FFF2-40B4-BE49-F238E27FC236}">
                <a16:creationId xmlns:a16="http://schemas.microsoft.com/office/drawing/2014/main" id="{91CB8CCE-ABCE-4269-D385-6A85361707F2}"/>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F83828B5-F8D2-468E-E9F9-22044AD803A1}"/>
              </a:ext>
            </a:extLst>
          </p:cNvPr>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2ED161-E66E-BD2A-E6C7-D2BF90142E6E}"/>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F4AE3492-B860-862A-20BA-8E7564AAAFB8}"/>
              </a:ext>
            </a:extLst>
          </p:cNvPr>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285C9F5-235B-593E-E89A-70748C79826C}"/>
              </a:ext>
            </a:extLst>
          </p:cNvPr>
          <p:cNvSpPr>
            <a:spLocks noGrp="1"/>
          </p:cNvSpPr>
          <p:nvPr>
            <p:ph type="dt" sz="half" idx="10"/>
          </p:nvPr>
        </p:nvSpPr>
        <p:spPr/>
        <p:txBody>
          <a:bodyPr/>
          <a:lstStyle/>
          <a:p>
            <a:fld id="{A6363D86-4F12-4758-A31F-83E54C89CE6A}" type="datetimeFigureOut">
              <a:rPr lang="en-US" smtClean="0"/>
              <a:t>8/11/2025</a:t>
            </a:fld>
            <a:endParaRPr lang="en-US"/>
          </a:p>
        </p:txBody>
      </p:sp>
      <p:sp>
        <p:nvSpPr>
          <p:cNvPr id="8" name="Footer Placeholder 7">
            <a:extLst>
              <a:ext uri="{FF2B5EF4-FFF2-40B4-BE49-F238E27FC236}">
                <a16:creationId xmlns:a16="http://schemas.microsoft.com/office/drawing/2014/main" id="{BCA0CDA1-684B-4E8D-57F3-CB24FD917DE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F9A75C-ED65-EFFA-0D6D-C58FC30829D3}"/>
              </a:ext>
            </a:extLst>
          </p:cNvPr>
          <p:cNvSpPr>
            <a:spLocks noGrp="1"/>
          </p:cNvSpPr>
          <p:nvPr>
            <p:ph type="sldNum" sz="quarter" idx="12"/>
          </p:nvPr>
        </p:nvSpPr>
        <p:spPr/>
        <p:txBody>
          <a:bodyPr/>
          <a:lstStyle/>
          <a:p>
            <a:fld id="{096956BE-CC4A-4D22-B4B1-4168E6DCA4F8}" type="slidenum">
              <a:rPr lang="en-US" smtClean="0"/>
              <a:t>‹#›</a:t>
            </a:fld>
            <a:endParaRPr lang="en-US"/>
          </a:p>
        </p:txBody>
      </p:sp>
    </p:spTree>
    <p:extLst>
      <p:ext uri="{BB962C8B-B14F-4D97-AF65-F5344CB8AC3E}">
        <p14:creationId xmlns:p14="http://schemas.microsoft.com/office/powerpoint/2010/main" val="19440260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444B0-0B27-D1FF-A727-AFF6F89E5C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F39E18F-9304-7469-12C9-7F750C9D7AFE}"/>
              </a:ext>
            </a:extLst>
          </p:cNvPr>
          <p:cNvSpPr>
            <a:spLocks noGrp="1"/>
          </p:cNvSpPr>
          <p:nvPr>
            <p:ph type="dt" sz="half" idx="10"/>
          </p:nvPr>
        </p:nvSpPr>
        <p:spPr/>
        <p:txBody>
          <a:bodyPr/>
          <a:lstStyle/>
          <a:p>
            <a:fld id="{A6363D86-4F12-4758-A31F-83E54C89CE6A}" type="datetimeFigureOut">
              <a:rPr lang="en-US" smtClean="0"/>
              <a:t>8/11/2025</a:t>
            </a:fld>
            <a:endParaRPr lang="en-US"/>
          </a:p>
        </p:txBody>
      </p:sp>
      <p:sp>
        <p:nvSpPr>
          <p:cNvPr id="4" name="Footer Placeholder 3">
            <a:extLst>
              <a:ext uri="{FF2B5EF4-FFF2-40B4-BE49-F238E27FC236}">
                <a16:creationId xmlns:a16="http://schemas.microsoft.com/office/drawing/2014/main" id="{7FBDC8C4-CEAB-BDA6-80DF-886109AF01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B10609-C981-0DEA-59CE-1791F8D040F4}"/>
              </a:ext>
            </a:extLst>
          </p:cNvPr>
          <p:cNvSpPr>
            <a:spLocks noGrp="1"/>
          </p:cNvSpPr>
          <p:nvPr>
            <p:ph type="sldNum" sz="quarter" idx="12"/>
          </p:nvPr>
        </p:nvSpPr>
        <p:spPr/>
        <p:txBody>
          <a:bodyPr/>
          <a:lstStyle/>
          <a:p>
            <a:fld id="{096956BE-CC4A-4D22-B4B1-4168E6DCA4F8}" type="slidenum">
              <a:rPr lang="en-US" smtClean="0"/>
              <a:t>‹#›</a:t>
            </a:fld>
            <a:endParaRPr lang="en-US"/>
          </a:p>
        </p:txBody>
      </p:sp>
    </p:spTree>
    <p:extLst>
      <p:ext uri="{BB962C8B-B14F-4D97-AF65-F5344CB8AC3E}">
        <p14:creationId xmlns:p14="http://schemas.microsoft.com/office/powerpoint/2010/main" val="231740043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517086-7331-3B69-2B2F-A5102402680C}"/>
              </a:ext>
            </a:extLst>
          </p:cNvPr>
          <p:cNvSpPr>
            <a:spLocks noGrp="1"/>
          </p:cNvSpPr>
          <p:nvPr>
            <p:ph type="dt" sz="half" idx="10"/>
          </p:nvPr>
        </p:nvSpPr>
        <p:spPr/>
        <p:txBody>
          <a:bodyPr/>
          <a:lstStyle/>
          <a:p>
            <a:fld id="{A6363D86-4F12-4758-A31F-83E54C89CE6A}" type="datetimeFigureOut">
              <a:rPr lang="en-US" smtClean="0"/>
              <a:t>8/11/2025</a:t>
            </a:fld>
            <a:endParaRPr lang="en-US"/>
          </a:p>
        </p:txBody>
      </p:sp>
      <p:sp>
        <p:nvSpPr>
          <p:cNvPr id="3" name="Footer Placeholder 2">
            <a:extLst>
              <a:ext uri="{FF2B5EF4-FFF2-40B4-BE49-F238E27FC236}">
                <a16:creationId xmlns:a16="http://schemas.microsoft.com/office/drawing/2014/main" id="{34170140-79E6-0DF1-6499-CB223AC52EE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56E153-DE92-4167-4DA9-7BAB55053515}"/>
              </a:ext>
            </a:extLst>
          </p:cNvPr>
          <p:cNvSpPr>
            <a:spLocks noGrp="1"/>
          </p:cNvSpPr>
          <p:nvPr>
            <p:ph type="sldNum" sz="quarter" idx="12"/>
          </p:nvPr>
        </p:nvSpPr>
        <p:spPr/>
        <p:txBody>
          <a:bodyPr/>
          <a:lstStyle/>
          <a:p>
            <a:fld id="{096956BE-CC4A-4D22-B4B1-4168E6DCA4F8}" type="slidenum">
              <a:rPr lang="en-US" smtClean="0"/>
              <a:t>‹#›</a:t>
            </a:fld>
            <a:endParaRPr lang="en-US"/>
          </a:p>
        </p:txBody>
      </p:sp>
    </p:spTree>
    <p:extLst>
      <p:ext uri="{BB962C8B-B14F-4D97-AF65-F5344CB8AC3E}">
        <p14:creationId xmlns:p14="http://schemas.microsoft.com/office/powerpoint/2010/main" val="159753252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399B7-EFB5-BADD-2322-31833AC54C77}"/>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p>
        </p:txBody>
      </p:sp>
      <p:sp>
        <p:nvSpPr>
          <p:cNvPr id="3" name="Content Placeholder 2">
            <a:extLst>
              <a:ext uri="{FF2B5EF4-FFF2-40B4-BE49-F238E27FC236}">
                <a16:creationId xmlns:a16="http://schemas.microsoft.com/office/drawing/2014/main" id="{955D597A-0135-08D2-F1CF-955601E574E8}"/>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C4E18B-E908-B3B5-1163-785AEA92ABEF}"/>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497919DF-E8C8-35A1-890A-F7A056DA9E7B}"/>
              </a:ext>
            </a:extLst>
          </p:cNvPr>
          <p:cNvSpPr>
            <a:spLocks noGrp="1"/>
          </p:cNvSpPr>
          <p:nvPr>
            <p:ph type="dt" sz="half" idx="10"/>
          </p:nvPr>
        </p:nvSpPr>
        <p:spPr/>
        <p:txBody>
          <a:bodyPr/>
          <a:lstStyle/>
          <a:p>
            <a:fld id="{A6363D86-4F12-4758-A31F-83E54C89CE6A}" type="datetimeFigureOut">
              <a:rPr lang="en-US" smtClean="0"/>
              <a:t>8/11/2025</a:t>
            </a:fld>
            <a:endParaRPr lang="en-US"/>
          </a:p>
        </p:txBody>
      </p:sp>
      <p:sp>
        <p:nvSpPr>
          <p:cNvPr id="6" name="Footer Placeholder 5">
            <a:extLst>
              <a:ext uri="{FF2B5EF4-FFF2-40B4-BE49-F238E27FC236}">
                <a16:creationId xmlns:a16="http://schemas.microsoft.com/office/drawing/2014/main" id="{0214F2DF-4161-5564-4698-C0B9AC290E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991C72-A18B-6C68-42B4-0587C3EDC32A}"/>
              </a:ext>
            </a:extLst>
          </p:cNvPr>
          <p:cNvSpPr>
            <a:spLocks noGrp="1"/>
          </p:cNvSpPr>
          <p:nvPr>
            <p:ph type="sldNum" sz="quarter" idx="12"/>
          </p:nvPr>
        </p:nvSpPr>
        <p:spPr/>
        <p:txBody>
          <a:bodyPr/>
          <a:lstStyle/>
          <a:p>
            <a:fld id="{096956BE-CC4A-4D22-B4B1-4168E6DCA4F8}" type="slidenum">
              <a:rPr lang="en-US" smtClean="0"/>
              <a:t>‹#›</a:t>
            </a:fld>
            <a:endParaRPr lang="en-US"/>
          </a:p>
        </p:txBody>
      </p:sp>
    </p:spTree>
    <p:extLst>
      <p:ext uri="{BB962C8B-B14F-4D97-AF65-F5344CB8AC3E}">
        <p14:creationId xmlns:p14="http://schemas.microsoft.com/office/powerpoint/2010/main" val="283238231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4510B-2C94-BA29-82DD-77C0326ABF50}"/>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p>
        </p:txBody>
      </p:sp>
      <p:sp>
        <p:nvSpPr>
          <p:cNvPr id="3" name="Picture Placeholder 2">
            <a:extLst>
              <a:ext uri="{FF2B5EF4-FFF2-40B4-BE49-F238E27FC236}">
                <a16:creationId xmlns:a16="http://schemas.microsoft.com/office/drawing/2014/main" id="{702A82F6-7C0C-A62C-774B-020E83A79656}"/>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US"/>
          </a:p>
        </p:txBody>
      </p:sp>
      <p:sp>
        <p:nvSpPr>
          <p:cNvPr id="4" name="Text Placeholder 3">
            <a:extLst>
              <a:ext uri="{FF2B5EF4-FFF2-40B4-BE49-F238E27FC236}">
                <a16:creationId xmlns:a16="http://schemas.microsoft.com/office/drawing/2014/main" id="{A9C522A1-E3D4-1E07-EC2F-B36526456E3D}"/>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9FF4A76F-0147-7D9B-9CA6-7D29F5A8F26E}"/>
              </a:ext>
            </a:extLst>
          </p:cNvPr>
          <p:cNvSpPr>
            <a:spLocks noGrp="1"/>
          </p:cNvSpPr>
          <p:nvPr>
            <p:ph type="dt" sz="half" idx="10"/>
          </p:nvPr>
        </p:nvSpPr>
        <p:spPr/>
        <p:txBody>
          <a:bodyPr/>
          <a:lstStyle/>
          <a:p>
            <a:fld id="{A6363D86-4F12-4758-A31F-83E54C89CE6A}" type="datetimeFigureOut">
              <a:rPr lang="en-US" smtClean="0"/>
              <a:t>8/11/2025</a:t>
            </a:fld>
            <a:endParaRPr lang="en-US"/>
          </a:p>
        </p:txBody>
      </p:sp>
      <p:sp>
        <p:nvSpPr>
          <p:cNvPr id="6" name="Footer Placeholder 5">
            <a:extLst>
              <a:ext uri="{FF2B5EF4-FFF2-40B4-BE49-F238E27FC236}">
                <a16:creationId xmlns:a16="http://schemas.microsoft.com/office/drawing/2014/main" id="{A920E143-B21F-8AFB-8B6C-385C3E91A9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F0DF71-C343-2EA5-4B91-DEBB1D7F5358}"/>
              </a:ext>
            </a:extLst>
          </p:cNvPr>
          <p:cNvSpPr>
            <a:spLocks noGrp="1"/>
          </p:cNvSpPr>
          <p:nvPr>
            <p:ph type="sldNum" sz="quarter" idx="12"/>
          </p:nvPr>
        </p:nvSpPr>
        <p:spPr/>
        <p:txBody>
          <a:bodyPr/>
          <a:lstStyle/>
          <a:p>
            <a:fld id="{096956BE-CC4A-4D22-B4B1-4168E6DCA4F8}" type="slidenum">
              <a:rPr lang="en-US" smtClean="0"/>
              <a:t>‹#›</a:t>
            </a:fld>
            <a:endParaRPr lang="en-US"/>
          </a:p>
        </p:txBody>
      </p:sp>
    </p:spTree>
    <p:extLst>
      <p:ext uri="{BB962C8B-B14F-4D97-AF65-F5344CB8AC3E}">
        <p14:creationId xmlns:p14="http://schemas.microsoft.com/office/powerpoint/2010/main" val="194776396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4A91E-F753-B243-F2EB-37E963F526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D2E3846-B42C-C17B-60CA-58C602F8FA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52163E-821F-3E88-CE52-A30EEB870677}"/>
              </a:ext>
            </a:extLst>
          </p:cNvPr>
          <p:cNvSpPr>
            <a:spLocks noGrp="1"/>
          </p:cNvSpPr>
          <p:nvPr>
            <p:ph type="dt" sz="half" idx="10"/>
          </p:nvPr>
        </p:nvSpPr>
        <p:spPr/>
        <p:txBody>
          <a:bodyPr/>
          <a:lstStyle/>
          <a:p>
            <a:fld id="{A6363D86-4F12-4758-A31F-83E54C89CE6A}" type="datetimeFigureOut">
              <a:rPr lang="en-US" smtClean="0"/>
              <a:t>8/11/2025</a:t>
            </a:fld>
            <a:endParaRPr lang="en-US"/>
          </a:p>
        </p:txBody>
      </p:sp>
      <p:sp>
        <p:nvSpPr>
          <p:cNvPr id="5" name="Footer Placeholder 4">
            <a:extLst>
              <a:ext uri="{FF2B5EF4-FFF2-40B4-BE49-F238E27FC236}">
                <a16:creationId xmlns:a16="http://schemas.microsoft.com/office/drawing/2014/main" id="{D1065471-2F8F-1732-83E7-FEF6ADC03F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FEB1B7-56F8-6BE9-BB5A-C2D36FB3A3D4}"/>
              </a:ext>
            </a:extLst>
          </p:cNvPr>
          <p:cNvSpPr>
            <a:spLocks noGrp="1"/>
          </p:cNvSpPr>
          <p:nvPr>
            <p:ph type="sldNum" sz="quarter" idx="12"/>
          </p:nvPr>
        </p:nvSpPr>
        <p:spPr/>
        <p:txBody>
          <a:bodyPr/>
          <a:lstStyle/>
          <a:p>
            <a:fld id="{096956BE-CC4A-4D22-B4B1-4168E6DCA4F8}" type="slidenum">
              <a:rPr lang="en-US" smtClean="0"/>
              <a:t>‹#›</a:t>
            </a:fld>
            <a:endParaRPr lang="en-US"/>
          </a:p>
        </p:txBody>
      </p:sp>
    </p:spTree>
    <p:extLst>
      <p:ext uri="{BB962C8B-B14F-4D97-AF65-F5344CB8AC3E}">
        <p14:creationId xmlns:p14="http://schemas.microsoft.com/office/powerpoint/2010/main" val="93310808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417E77-1887-2BFA-0F29-B389DCD88B9E}"/>
              </a:ext>
            </a:extLst>
          </p:cNvPr>
          <p:cNvSpPr>
            <a:spLocks noGrp="1"/>
          </p:cNvSpPr>
          <p:nvPr>
            <p:ph type="title" orient="vert"/>
          </p:nvPr>
        </p:nvSpPr>
        <p:spPr>
          <a:xfrm>
            <a:off x="10469880" y="438150"/>
            <a:ext cx="3154680" cy="697420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2586D8-8674-3488-250C-4AEAAED0D1A3}"/>
              </a:ext>
            </a:extLst>
          </p:cNvPr>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4A675B-C0B1-EC80-21D0-106BC64E4CF3}"/>
              </a:ext>
            </a:extLst>
          </p:cNvPr>
          <p:cNvSpPr>
            <a:spLocks noGrp="1"/>
          </p:cNvSpPr>
          <p:nvPr>
            <p:ph type="dt" sz="half" idx="10"/>
          </p:nvPr>
        </p:nvSpPr>
        <p:spPr/>
        <p:txBody>
          <a:bodyPr/>
          <a:lstStyle/>
          <a:p>
            <a:fld id="{A6363D86-4F12-4758-A31F-83E54C89CE6A}" type="datetimeFigureOut">
              <a:rPr lang="en-US" smtClean="0"/>
              <a:t>8/11/2025</a:t>
            </a:fld>
            <a:endParaRPr lang="en-US"/>
          </a:p>
        </p:txBody>
      </p:sp>
      <p:sp>
        <p:nvSpPr>
          <p:cNvPr id="5" name="Footer Placeholder 4">
            <a:extLst>
              <a:ext uri="{FF2B5EF4-FFF2-40B4-BE49-F238E27FC236}">
                <a16:creationId xmlns:a16="http://schemas.microsoft.com/office/drawing/2014/main" id="{85EE700D-BC46-72A4-3D8A-BC00A018A0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9B11F5-6124-40EE-576B-84AE53AA5BA9}"/>
              </a:ext>
            </a:extLst>
          </p:cNvPr>
          <p:cNvSpPr>
            <a:spLocks noGrp="1"/>
          </p:cNvSpPr>
          <p:nvPr>
            <p:ph type="sldNum" sz="quarter" idx="12"/>
          </p:nvPr>
        </p:nvSpPr>
        <p:spPr/>
        <p:txBody>
          <a:bodyPr/>
          <a:lstStyle/>
          <a:p>
            <a:fld id="{096956BE-CC4A-4D22-B4B1-4168E6DCA4F8}" type="slidenum">
              <a:rPr lang="en-US" smtClean="0"/>
              <a:t>‹#›</a:t>
            </a:fld>
            <a:endParaRPr lang="en-US"/>
          </a:p>
        </p:txBody>
      </p:sp>
    </p:spTree>
    <p:extLst>
      <p:ext uri="{BB962C8B-B14F-4D97-AF65-F5344CB8AC3E}">
        <p14:creationId xmlns:p14="http://schemas.microsoft.com/office/powerpoint/2010/main" val="384878666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39175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76210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59145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29682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1B7E8-2433-AF94-8121-831F292766DA}"/>
              </a:ext>
            </a:extLst>
          </p:cNvPr>
          <p:cNvSpPr>
            <a:spLocks noGrp="1"/>
          </p:cNvSpPr>
          <p:nvPr>
            <p:ph type="ctrTitle"/>
          </p:nvPr>
        </p:nvSpPr>
        <p:spPr>
          <a:xfrm>
            <a:off x="761176" y="1346836"/>
            <a:ext cx="10972800" cy="2865120"/>
          </a:xfrm>
        </p:spPr>
        <p:txBody>
          <a:bodyPr anchor="b">
            <a:normAutofit/>
          </a:bodyPr>
          <a:lstStyle>
            <a:lvl1pPr algn="l">
              <a:defRPr sz="9600"/>
            </a:lvl1pPr>
          </a:lstStyle>
          <a:p>
            <a:r>
              <a:rPr lang="en-US"/>
              <a:t>Click to edit Master title style</a:t>
            </a:r>
          </a:p>
        </p:txBody>
      </p:sp>
      <p:sp>
        <p:nvSpPr>
          <p:cNvPr id="3" name="Subtitle 2">
            <a:extLst>
              <a:ext uri="{FF2B5EF4-FFF2-40B4-BE49-F238E27FC236}">
                <a16:creationId xmlns:a16="http://schemas.microsoft.com/office/drawing/2014/main" id="{68FC67EF-ED8B-9DDF-CDE1-420BAA1E55CC}"/>
              </a:ext>
            </a:extLst>
          </p:cNvPr>
          <p:cNvSpPr>
            <a:spLocks noGrp="1"/>
          </p:cNvSpPr>
          <p:nvPr>
            <p:ph type="subTitle" idx="1"/>
          </p:nvPr>
        </p:nvSpPr>
        <p:spPr>
          <a:xfrm>
            <a:off x="761176" y="4322446"/>
            <a:ext cx="10972800" cy="1986914"/>
          </a:xfrm>
        </p:spPr>
        <p:txBody>
          <a:bodyPr>
            <a:normAutofit/>
          </a:bodyPr>
          <a:lstStyle>
            <a:lvl1pPr marL="0" indent="0" algn="l">
              <a:buNone/>
              <a:defRPr sz="3840">
                <a:solidFill>
                  <a:srgbClr val="2C5875"/>
                </a:solidFill>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
        <p:nvSpPr>
          <p:cNvPr id="7" name="Shape 0">
            <a:extLst>
              <a:ext uri="{FF2B5EF4-FFF2-40B4-BE49-F238E27FC236}">
                <a16:creationId xmlns:a16="http://schemas.microsoft.com/office/drawing/2014/main" id="{C08CA524-DD1F-F0BB-E127-0711D6C5545C}"/>
              </a:ext>
            </a:extLst>
          </p:cNvPr>
          <p:cNvSpPr/>
          <p:nvPr userDrawn="1"/>
        </p:nvSpPr>
        <p:spPr>
          <a:xfrm>
            <a:off x="-1" y="6744128"/>
            <a:ext cx="14630401" cy="0"/>
          </a:xfrm>
          <a:prstGeom prst="line">
            <a:avLst/>
          </a:prstGeom>
          <a:noFill/>
          <a:ln w="50800">
            <a:solidFill>
              <a:srgbClr val="71CC98"/>
            </a:solidFill>
            <a:prstDash val="solid"/>
          </a:ln>
        </p:spPr>
        <p:txBody>
          <a:bodyPr/>
          <a:lstStyle/>
          <a:p>
            <a:endParaRPr lang="en-US" sz="2160"/>
          </a:p>
        </p:txBody>
      </p:sp>
      <p:sp>
        <p:nvSpPr>
          <p:cNvPr id="18" name="Text Placeholder 17">
            <a:extLst>
              <a:ext uri="{FF2B5EF4-FFF2-40B4-BE49-F238E27FC236}">
                <a16:creationId xmlns:a16="http://schemas.microsoft.com/office/drawing/2014/main" id="{3CD3BDE2-3807-AF06-9715-A536FA3B515A}"/>
              </a:ext>
            </a:extLst>
          </p:cNvPr>
          <p:cNvSpPr>
            <a:spLocks noGrp="1"/>
          </p:cNvSpPr>
          <p:nvPr>
            <p:ph type="body" sz="quarter" idx="10"/>
          </p:nvPr>
        </p:nvSpPr>
        <p:spPr>
          <a:xfrm>
            <a:off x="762000" y="7058284"/>
            <a:ext cx="5554980" cy="889636"/>
          </a:xfrm>
        </p:spPr>
        <p:txBody>
          <a:bodyPr anchor="ctr">
            <a:normAutofit/>
          </a:bodyPr>
          <a:lstStyle>
            <a:lvl1pPr marL="0" indent="0">
              <a:lnSpc>
                <a:spcPct val="100000"/>
              </a:lnSpc>
              <a:buNone/>
              <a:defRPr sz="1680" b="0" i="0">
                <a:solidFill>
                  <a:schemeClr val="bg2"/>
                </a:solidFill>
                <a:latin typeface="Aptos Light" panose="020B0004020202020204" pitchFamily="34" charset="0"/>
              </a:defRPr>
            </a:lvl1pPr>
            <a:lvl2pPr marL="548640" indent="0">
              <a:buNone/>
              <a:defRPr/>
            </a:lvl2pPr>
            <a:lvl3pPr marL="1097280" indent="0">
              <a:buNone/>
              <a:defRPr/>
            </a:lvl3pPr>
            <a:lvl4pPr marL="1645920" indent="0">
              <a:buNone/>
              <a:defRPr/>
            </a:lvl4pPr>
            <a:lvl5pPr marL="2194560" indent="0">
              <a:buNone/>
              <a:defRPr/>
            </a:lvl5pPr>
          </a:lstStyle>
          <a:p>
            <a:pPr lvl="0"/>
            <a:r>
              <a:rPr lang="en-US"/>
              <a:t>Click to edit Master text styles</a:t>
            </a:r>
          </a:p>
        </p:txBody>
      </p:sp>
      <p:pic>
        <p:nvPicPr>
          <p:cNvPr id="16" name="Picture 15">
            <a:extLst>
              <a:ext uri="{FF2B5EF4-FFF2-40B4-BE49-F238E27FC236}">
                <a16:creationId xmlns:a16="http://schemas.microsoft.com/office/drawing/2014/main" id="{C64E7E37-C99A-6318-4D01-65E52AF70857}"/>
              </a:ext>
            </a:extLst>
          </p:cNvPr>
          <p:cNvPicPr>
            <a:picLocks noChangeAspect="1"/>
          </p:cNvPicPr>
          <p:nvPr userDrawn="1"/>
        </p:nvPicPr>
        <p:blipFill>
          <a:blip r:embed="rId3"/>
          <a:srcRect/>
          <a:stretch/>
        </p:blipFill>
        <p:spPr>
          <a:xfrm>
            <a:off x="11483546" y="6882765"/>
            <a:ext cx="2939970" cy="1276662"/>
          </a:xfrm>
          <a:prstGeom prst="rect">
            <a:avLst/>
          </a:prstGeom>
        </p:spPr>
      </p:pic>
    </p:spTree>
    <p:extLst>
      <p:ext uri="{BB962C8B-B14F-4D97-AF65-F5344CB8AC3E}">
        <p14:creationId xmlns:p14="http://schemas.microsoft.com/office/powerpoint/2010/main" val="38589655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1999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F93FD5-A1E0-0208-E792-761609A8F6D5}"/>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3A77C39-6CC4-61DB-57BE-4C43706C2A3E}"/>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7D22DD-7FF0-EE85-C9B5-715C3E1C9A71}"/>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82000"/>
                  </a:schemeClr>
                </a:solidFill>
              </a:defRPr>
            </a:lvl1pPr>
          </a:lstStyle>
          <a:p>
            <a:fld id="{A6363D86-4F12-4758-A31F-83E54C89CE6A}" type="datetimeFigureOut">
              <a:rPr lang="en-US" smtClean="0"/>
              <a:t>8/11/2025</a:t>
            </a:fld>
            <a:endParaRPr lang="en-US"/>
          </a:p>
        </p:txBody>
      </p:sp>
      <p:sp>
        <p:nvSpPr>
          <p:cNvPr id="5" name="Footer Placeholder 4">
            <a:extLst>
              <a:ext uri="{FF2B5EF4-FFF2-40B4-BE49-F238E27FC236}">
                <a16:creationId xmlns:a16="http://schemas.microsoft.com/office/drawing/2014/main" id="{7EED7B71-C16E-C587-3618-C6F4DA1A39D4}"/>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9D5B72A-15B1-12A1-E7C0-ADB953538F99}"/>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82000"/>
                  </a:schemeClr>
                </a:solidFill>
              </a:defRPr>
            </a:lvl1pPr>
          </a:lstStyle>
          <a:p>
            <a:fld id="{096956BE-CC4A-4D22-B4B1-4168E6DCA4F8}" type="slidenum">
              <a:rPr lang="en-US" smtClean="0"/>
              <a:t>‹#›</a:t>
            </a:fld>
            <a:endParaRPr lang="en-US"/>
          </a:p>
        </p:txBody>
      </p:sp>
    </p:spTree>
    <p:extLst>
      <p:ext uri="{BB962C8B-B14F-4D97-AF65-F5344CB8AC3E}">
        <p14:creationId xmlns:p14="http://schemas.microsoft.com/office/powerpoint/2010/main" val="14348435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1" r:id="rId12"/>
    <p:sldLayoutId id="2147483672" r:id="rId13"/>
    <p:sldLayoutId id="2147483673" r:id="rId14"/>
    <p:sldLayoutId id="2147483675" r:id="rId15"/>
    <p:sldLayoutId id="2147483676" r:id="rId16"/>
    <p:sldLayoutId id="2147483677" r:id="rId17"/>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slideLayout" Target="../slideLayouts/slideLayout15.xml"/><Relationship Id="rId1" Type="http://schemas.openxmlformats.org/officeDocument/2006/relationships/video" Target="https://kochind.sharepoint.com/:v:/r/sites/MYKTCTeam/Shared%20Documents/Snowflake%20AI%20Demo/Invoice_Analyst_Snowflake.mp4?csf=1&amp;web=1&amp;e=M4ldAf" TargetMode="Externa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7F86C-6674-44EB-4EC1-CCBADFCC202A}"/>
              </a:ext>
            </a:extLst>
          </p:cNvPr>
          <p:cNvSpPr>
            <a:spLocks noGrp="1"/>
          </p:cNvSpPr>
          <p:nvPr>
            <p:ph type="ctrTitle"/>
          </p:nvPr>
        </p:nvSpPr>
        <p:spPr>
          <a:xfrm>
            <a:off x="762000" y="31090"/>
            <a:ext cx="12384239" cy="3564560"/>
          </a:xfrm>
        </p:spPr>
        <p:txBody>
          <a:bodyPr>
            <a:noAutofit/>
          </a:bodyPr>
          <a:lstStyle/>
          <a:p>
            <a:pPr>
              <a:lnSpc>
                <a:spcPts val="6050"/>
              </a:lnSpc>
            </a:pPr>
            <a:r>
              <a:rPr lang="en-US" sz="4400" b="1" dirty="0">
                <a:solidFill>
                  <a:schemeClr val="accent1"/>
                </a:solidFill>
                <a:latin typeface="Amasis MT Pro" panose="02040504050005020304" pitchFamily="18" charset="0"/>
                <a:ea typeface="Unbounded Bold" pitchFamily="34" charset="-122"/>
                <a:cs typeface="Unbounded Bold" pitchFamily="34" charset="-120"/>
              </a:rPr>
              <a:t>Intelligent Invoice Processing &amp; Insights: AI-Driven Financial Management</a:t>
            </a:r>
            <a:endParaRPr lang="en-US" sz="4400" dirty="0">
              <a:solidFill>
                <a:schemeClr val="accent1"/>
              </a:solidFill>
              <a:latin typeface="Amasis MT Pro" panose="02040504050005020304" pitchFamily="18" charset="0"/>
            </a:endParaRPr>
          </a:p>
        </p:txBody>
      </p:sp>
      <p:sp>
        <p:nvSpPr>
          <p:cNvPr id="5" name="TextBox 4">
            <a:extLst>
              <a:ext uri="{FF2B5EF4-FFF2-40B4-BE49-F238E27FC236}">
                <a16:creationId xmlns:a16="http://schemas.microsoft.com/office/drawing/2014/main" id="{E1C09D89-8848-4B86-65B8-1147CF04ABC9}"/>
              </a:ext>
            </a:extLst>
          </p:cNvPr>
          <p:cNvSpPr txBox="1"/>
          <p:nvPr/>
        </p:nvSpPr>
        <p:spPr>
          <a:xfrm>
            <a:off x="10521950" y="5466834"/>
            <a:ext cx="7327900" cy="369332"/>
          </a:xfrm>
          <a:prstGeom prst="rect">
            <a:avLst/>
          </a:prstGeom>
          <a:noFill/>
        </p:spPr>
        <p:txBody>
          <a:bodyPr wrap="square">
            <a:spAutoFit/>
          </a:bodyPr>
          <a:lstStyle/>
          <a:p>
            <a:r>
              <a:rPr lang="en-US" sz="1800" b="1" dirty="0">
                <a:solidFill>
                  <a:schemeClr val="accent1"/>
                </a:solidFill>
                <a:latin typeface="Amasis MT Pro" panose="02040504050005020304" pitchFamily="18" charset="0"/>
                <a:ea typeface="Unbounded Bold" pitchFamily="34" charset="-122"/>
              </a:rPr>
              <a:t>INVISTA</a:t>
            </a:r>
            <a:r>
              <a:rPr lang="en-US" sz="800" dirty="0">
                <a:solidFill>
                  <a:schemeClr val="accent1"/>
                </a:solidFill>
                <a:latin typeface="Amasis MT Pro" panose="02040504050005020304" pitchFamily="18" charset="0"/>
              </a:rPr>
              <a:t>      </a:t>
            </a:r>
            <a:r>
              <a:rPr lang="en-US" sz="1800" b="1" dirty="0">
                <a:solidFill>
                  <a:schemeClr val="accent1"/>
                </a:solidFill>
                <a:latin typeface="Amasis MT Pro" panose="02040504050005020304" pitchFamily="18" charset="0"/>
                <a:ea typeface="Unbounded Bold" pitchFamily="34" charset="-122"/>
              </a:rPr>
              <a:t>DNA</a:t>
            </a:r>
            <a:r>
              <a:rPr lang="en-US" sz="800" dirty="0">
                <a:solidFill>
                  <a:schemeClr val="accent1"/>
                </a:solidFill>
                <a:latin typeface="Amasis MT Pro" panose="02040504050005020304" pitchFamily="18" charset="0"/>
              </a:rPr>
              <a:t>      </a:t>
            </a:r>
            <a:r>
              <a:rPr lang="en-US" sz="1800" b="1" dirty="0">
                <a:solidFill>
                  <a:schemeClr val="accent1"/>
                </a:solidFill>
                <a:latin typeface="Amasis MT Pro" panose="02040504050005020304" pitchFamily="18" charset="0"/>
                <a:ea typeface="Unbounded Bold" pitchFamily="34" charset="-122"/>
              </a:rPr>
              <a:t>TEAM</a:t>
            </a:r>
          </a:p>
        </p:txBody>
      </p:sp>
    </p:spTree>
    <p:extLst>
      <p:ext uri="{BB962C8B-B14F-4D97-AF65-F5344CB8AC3E}">
        <p14:creationId xmlns:p14="http://schemas.microsoft.com/office/powerpoint/2010/main" val="4278217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2A319-57EF-A65E-B962-C2B4AE582D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262DFC-B09E-F274-43C2-76AB246B5196}"/>
              </a:ext>
            </a:extLst>
          </p:cNvPr>
          <p:cNvSpPr>
            <a:spLocks noGrp="1"/>
          </p:cNvSpPr>
          <p:nvPr>
            <p:ph type="ctrTitle"/>
          </p:nvPr>
        </p:nvSpPr>
        <p:spPr>
          <a:xfrm>
            <a:off x="609600" y="520700"/>
            <a:ext cx="12384239" cy="711200"/>
          </a:xfrm>
        </p:spPr>
        <p:txBody>
          <a:bodyPr>
            <a:noAutofit/>
          </a:bodyPr>
          <a:lstStyle/>
          <a:p>
            <a:pPr>
              <a:lnSpc>
                <a:spcPts val="6050"/>
              </a:lnSpc>
            </a:pPr>
            <a:r>
              <a:rPr lang="en-US" sz="4400" b="1" dirty="0">
                <a:solidFill>
                  <a:schemeClr val="accent1"/>
                </a:solidFill>
                <a:latin typeface="Amasis MT Pro" panose="02040504050005020304" pitchFamily="18" charset="0"/>
                <a:ea typeface="Unbounded Bold" pitchFamily="34" charset="-122"/>
              </a:rPr>
              <a:t>Agenda</a:t>
            </a:r>
            <a:endParaRPr lang="en-US" sz="4400" dirty="0">
              <a:solidFill>
                <a:schemeClr val="accent1"/>
              </a:solidFill>
              <a:latin typeface="Amasis MT Pro" panose="02040504050005020304" pitchFamily="18" charset="0"/>
            </a:endParaRPr>
          </a:p>
        </p:txBody>
      </p:sp>
      <p:sp>
        <p:nvSpPr>
          <p:cNvPr id="4" name="TextBox 3">
            <a:extLst>
              <a:ext uri="{FF2B5EF4-FFF2-40B4-BE49-F238E27FC236}">
                <a16:creationId xmlns:a16="http://schemas.microsoft.com/office/drawing/2014/main" id="{F0CA8DCC-BD28-CC3F-883B-B82A4A49BC82}"/>
              </a:ext>
            </a:extLst>
          </p:cNvPr>
          <p:cNvSpPr txBox="1"/>
          <p:nvPr/>
        </p:nvSpPr>
        <p:spPr>
          <a:xfrm>
            <a:off x="609600" y="1584002"/>
            <a:ext cx="8928100" cy="617926"/>
          </a:xfrm>
          <a:prstGeom prst="rect">
            <a:avLst/>
          </a:prstGeom>
          <a:noFill/>
        </p:spPr>
        <p:txBody>
          <a:bodyPr wrap="square">
            <a:spAutoFit/>
          </a:bodyPr>
          <a:lstStyle/>
          <a:p>
            <a:pPr marL="342900" indent="-342900" algn="l">
              <a:lnSpc>
                <a:spcPts val="4700"/>
              </a:lnSpc>
              <a:buFont typeface="Arial" panose="020B0604020202020204" pitchFamily="34" charset="0"/>
              <a:buChar char="•"/>
            </a:pPr>
            <a:r>
              <a:rPr lang="en-US" sz="2400" b="1" dirty="0">
                <a:solidFill>
                  <a:srgbClr val="333F70"/>
                </a:solidFill>
                <a:latin typeface="Amasis MT Pro" panose="02040504050005020304" pitchFamily="18" charset="0"/>
                <a:ea typeface="Unbounded Bold" pitchFamily="34" charset="-122"/>
                <a:cs typeface="Unbounded Bold" pitchFamily="34" charset="-120"/>
              </a:rPr>
              <a:t>The Challenge: Manual Invoice Processing Pain Points</a:t>
            </a:r>
            <a:endParaRPr lang="en-US" sz="2400" dirty="0">
              <a:latin typeface="Amasis MT Pro" panose="02040504050005020304" pitchFamily="18" charset="0"/>
            </a:endParaRPr>
          </a:p>
        </p:txBody>
      </p:sp>
      <p:sp>
        <p:nvSpPr>
          <p:cNvPr id="7" name="TextBox 6">
            <a:extLst>
              <a:ext uri="{FF2B5EF4-FFF2-40B4-BE49-F238E27FC236}">
                <a16:creationId xmlns:a16="http://schemas.microsoft.com/office/drawing/2014/main" id="{39FB403E-6166-73BC-4AD7-5D186314CF73}"/>
              </a:ext>
            </a:extLst>
          </p:cNvPr>
          <p:cNvSpPr txBox="1"/>
          <p:nvPr/>
        </p:nvSpPr>
        <p:spPr>
          <a:xfrm>
            <a:off x="609600" y="2108912"/>
            <a:ext cx="8928100" cy="685252"/>
          </a:xfrm>
          <a:prstGeom prst="rect">
            <a:avLst/>
          </a:prstGeom>
          <a:noFill/>
        </p:spPr>
        <p:txBody>
          <a:bodyPr wrap="square">
            <a:spAutoFit/>
          </a:bodyPr>
          <a:lstStyle/>
          <a:p>
            <a:pPr marL="342900" indent="-342900" algn="l">
              <a:lnSpc>
                <a:spcPts val="5400"/>
              </a:lnSpc>
              <a:buFont typeface="Arial" panose="020B0604020202020204" pitchFamily="34" charset="0"/>
              <a:buChar char="•"/>
            </a:pPr>
            <a:r>
              <a:rPr lang="en-US" sz="2400" b="1" dirty="0">
                <a:solidFill>
                  <a:srgbClr val="333F70"/>
                </a:solidFill>
                <a:latin typeface="Amasis MT Pro" panose="02040504050005020304" pitchFamily="18" charset="0"/>
                <a:ea typeface="Unbounded Bold" pitchFamily="34" charset="-122"/>
                <a:cs typeface="Unbounded Bold" pitchFamily="34" charset="-120"/>
              </a:rPr>
              <a:t>Key Processing Challenges</a:t>
            </a:r>
            <a:endParaRPr lang="en-US" sz="2400" dirty="0">
              <a:latin typeface="Amasis MT Pro" panose="02040504050005020304" pitchFamily="18" charset="0"/>
            </a:endParaRPr>
          </a:p>
        </p:txBody>
      </p:sp>
      <p:sp>
        <p:nvSpPr>
          <p:cNvPr id="9" name="TextBox 8">
            <a:extLst>
              <a:ext uri="{FF2B5EF4-FFF2-40B4-BE49-F238E27FC236}">
                <a16:creationId xmlns:a16="http://schemas.microsoft.com/office/drawing/2014/main" id="{51706789-0F64-1D17-333B-B9A6B03A3D05}"/>
              </a:ext>
            </a:extLst>
          </p:cNvPr>
          <p:cNvSpPr txBox="1"/>
          <p:nvPr/>
        </p:nvSpPr>
        <p:spPr>
          <a:xfrm>
            <a:off x="609600" y="2813958"/>
            <a:ext cx="8928100" cy="656398"/>
          </a:xfrm>
          <a:prstGeom prst="rect">
            <a:avLst/>
          </a:prstGeom>
          <a:noFill/>
        </p:spPr>
        <p:txBody>
          <a:bodyPr wrap="square">
            <a:spAutoFit/>
          </a:bodyPr>
          <a:lstStyle/>
          <a:p>
            <a:pPr marL="342900" indent="-342900" algn="l">
              <a:lnSpc>
                <a:spcPts val="5100"/>
              </a:lnSpc>
              <a:buFont typeface="Arial" panose="020B0604020202020204" pitchFamily="34" charset="0"/>
              <a:buChar char="•"/>
            </a:pPr>
            <a:r>
              <a:rPr lang="en-US" sz="2400" b="1" dirty="0">
                <a:solidFill>
                  <a:srgbClr val="333F70"/>
                </a:solidFill>
                <a:latin typeface="Amasis MT Pro" panose="02040504050005020304" pitchFamily="18" charset="0"/>
                <a:ea typeface="Unbounded Bold" pitchFamily="34" charset="-122"/>
                <a:cs typeface="Unbounded Bold" pitchFamily="34" charset="-120"/>
              </a:rPr>
              <a:t>Our AI-Driven Solution Architecture</a:t>
            </a:r>
            <a:endParaRPr lang="en-US" sz="2400" dirty="0">
              <a:latin typeface="Amasis MT Pro" panose="02040504050005020304" pitchFamily="18" charset="0"/>
            </a:endParaRPr>
          </a:p>
        </p:txBody>
      </p:sp>
      <p:sp>
        <p:nvSpPr>
          <p:cNvPr id="11" name="TextBox 10">
            <a:extLst>
              <a:ext uri="{FF2B5EF4-FFF2-40B4-BE49-F238E27FC236}">
                <a16:creationId xmlns:a16="http://schemas.microsoft.com/office/drawing/2014/main" id="{3FCA37EE-EE16-D99A-ED2D-B6EEA0911F29}"/>
              </a:ext>
            </a:extLst>
          </p:cNvPr>
          <p:cNvSpPr txBox="1"/>
          <p:nvPr/>
        </p:nvSpPr>
        <p:spPr>
          <a:xfrm>
            <a:off x="609600" y="4205932"/>
            <a:ext cx="8928100" cy="675634"/>
          </a:xfrm>
          <a:prstGeom prst="rect">
            <a:avLst/>
          </a:prstGeom>
          <a:noFill/>
        </p:spPr>
        <p:txBody>
          <a:bodyPr wrap="square">
            <a:spAutoFit/>
          </a:bodyPr>
          <a:lstStyle/>
          <a:p>
            <a:pPr marL="342900" indent="-342900" algn="l">
              <a:lnSpc>
                <a:spcPts val="5250"/>
              </a:lnSpc>
              <a:buFont typeface="Arial" panose="020B0604020202020204" pitchFamily="34" charset="0"/>
              <a:buChar char="•"/>
            </a:pPr>
            <a:r>
              <a:rPr lang="en-US" sz="2400" b="1" dirty="0">
                <a:solidFill>
                  <a:srgbClr val="333F70"/>
                </a:solidFill>
                <a:latin typeface="Amasis MT Pro" panose="02040504050005020304" pitchFamily="18" charset="0"/>
                <a:ea typeface="Unbounded Bold" pitchFamily="34" charset="-122"/>
                <a:cs typeface="Unbounded Bold" pitchFamily="34" charset="-120"/>
              </a:rPr>
              <a:t>Measurable Business Impact</a:t>
            </a:r>
            <a:endParaRPr lang="en-US" sz="2400" dirty="0">
              <a:latin typeface="Amasis MT Pro" panose="02040504050005020304" pitchFamily="18" charset="0"/>
            </a:endParaRPr>
          </a:p>
        </p:txBody>
      </p:sp>
      <p:sp>
        <p:nvSpPr>
          <p:cNvPr id="3" name="TextBox 2">
            <a:extLst>
              <a:ext uri="{FF2B5EF4-FFF2-40B4-BE49-F238E27FC236}">
                <a16:creationId xmlns:a16="http://schemas.microsoft.com/office/drawing/2014/main" id="{7317790E-A5E2-8A2F-C726-998436F56A9F}"/>
              </a:ext>
            </a:extLst>
          </p:cNvPr>
          <p:cNvSpPr txBox="1"/>
          <p:nvPr/>
        </p:nvSpPr>
        <p:spPr>
          <a:xfrm>
            <a:off x="609600" y="3509945"/>
            <a:ext cx="8928100" cy="656398"/>
          </a:xfrm>
          <a:prstGeom prst="rect">
            <a:avLst/>
          </a:prstGeom>
          <a:noFill/>
        </p:spPr>
        <p:txBody>
          <a:bodyPr wrap="square">
            <a:spAutoFit/>
          </a:bodyPr>
          <a:lstStyle/>
          <a:p>
            <a:pPr marL="342900" indent="-342900" algn="l">
              <a:lnSpc>
                <a:spcPts val="5100"/>
              </a:lnSpc>
              <a:buFont typeface="Arial" panose="020B0604020202020204" pitchFamily="34" charset="0"/>
              <a:buChar char="•"/>
            </a:pPr>
            <a:r>
              <a:rPr lang="en-US" sz="2400" b="1" dirty="0">
                <a:solidFill>
                  <a:srgbClr val="333F70"/>
                </a:solidFill>
                <a:latin typeface="Amasis MT Pro" panose="02040504050005020304" pitchFamily="18" charset="0"/>
                <a:ea typeface="Unbounded Bold" pitchFamily="34" charset="-122"/>
                <a:cs typeface="Unbounded Bold" pitchFamily="34" charset="-120"/>
              </a:rPr>
              <a:t>Technical Capabilities &amp; Innovation</a:t>
            </a:r>
            <a:endParaRPr lang="en-US" sz="2400" dirty="0">
              <a:latin typeface="Amasis MT Pro" panose="02040504050005020304" pitchFamily="18" charset="0"/>
            </a:endParaRPr>
          </a:p>
        </p:txBody>
      </p:sp>
    </p:spTree>
    <p:extLst>
      <p:ext uri="{BB962C8B-B14F-4D97-AF65-F5344CB8AC3E}">
        <p14:creationId xmlns:p14="http://schemas.microsoft.com/office/powerpoint/2010/main" val="3498803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8417" y="984528"/>
            <a:ext cx="13293566" cy="1193721"/>
          </a:xfrm>
          <a:prstGeom prst="rect">
            <a:avLst/>
          </a:prstGeom>
          <a:noFill/>
          <a:ln/>
        </p:spPr>
        <p:txBody>
          <a:bodyPr wrap="square" lIns="0" tIns="0" rIns="0" bIns="0" rtlCol="0" anchor="t"/>
          <a:lstStyle/>
          <a:p>
            <a:pPr marL="0" indent="0" algn="l">
              <a:lnSpc>
                <a:spcPts val="4700"/>
              </a:lnSpc>
              <a:buNone/>
            </a:pPr>
            <a:r>
              <a:rPr lang="en-US" sz="3750" b="1" dirty="0">
                <a:solidFill>
                  <a:srgbClr val="333F70"/>
                </a:solidFill>
                <a:latin typeface="Amasis MT Pro" panose="02040504050005020304" pitchFamily="18" charset="0"/>
                <a:ea typeface="Unbounded Bold" pitchFamily="34" charset="-122"/>
                <a:cs typeface="Unbounded Bold" pitchFamily="34" charset="-120"/>
              </a:rPr>
              <a:t>The Challenge: Manual Invoice Processing Pain Points</a:t>
            </a:r>
            <a:endParaRPr lang="en-US" sz="3750" dirty="0">
              <a:latin typeface="Amasis MT Pro" panose="02040504050005020304" pitchFamily="18" charset="0"/>
            </a:endParaRPr>
          </a:p>
        </p:txBody>
      </p:sp>
      <p:sp>
        <p:nvSpPr>
          <p:cNvPr id="3" name="Text 1"/>
          <p:cNvSpPr/>
          <p:nvPr/>
        </p:nvSpPr>
        <p:spPr>
          <a:xfrm>
            <a:off x="668417" y="2560201"/>
            <a:ext cx="13293566" cy="611029"/>
          </a:xfrm>
          <a:prstGeom prst="rect">
            <a:avLst/>
          </a:prstGeom>
          <a:noFill/>
          <a:ln/>
        </p:spPr>
        <p:txBody>
          <a:bodyPr wrap="square" lIns="0" tIns="0" rIns="0" bIns="0" rtlCol="0" anchor="t"/>
          <a:lstStyle/>
          <a:p>
            <a:pPr marL="0" indent="0" algn="l">
              <a:lnSpc>
                <a:spcPts val="2400"/>
              </a:lnSpc>
              <a:buNone/>
            </a:pPr>
            <a:r>
              <a:rPr lang="en-US" sz="1500" dirty="0">
                <a:solidFill>
                  <a:srgbClr val="333F70"/>
                </a:solidFill>
                <a:latin typeface="Amasis MT Pro" panose="02040504050005020304" pitchFamily="18" charset="0"/>
                <a:ea typeface="Open Sans" pitchFamily="34" charset="-122"/>
                <a:cs typeface="Open Sans" pitchFamily="34" charset="-120"/>
              </a:rPr>
              <a:t>Today's enterprises are drowning in invoices from global suppliers—often receiving thousands monthly in various languages and formats. This creates significant operational bottlenecks and financial visibility challenges.</a:t>
            </a:r>
            <a:endParaRPr lang="en-US" sz="1500" dirty="0">
              <a:latin typeface="Amasis MT Pro" panose="02040504050005020304" pitchFamily="18" charset="0"/>
            </a:endParaRPr>
          </a:p>
        </p:txBody>
      </p:sp>
      <p:sp>
        <p:nvSpPr>
          <p:cNvPr id="4" name="Shape 2"/>
          <p:cNvSpPr/>
          <p:nvPr/>
        </p:nvSpPr>
        <p:spPr>
          <a:xfrm>
            <a:off x="668417" y="3386018"/>
            <a:ext cx="6551295" cy="1421130"/>
          </a:xfrm>
          <a:prstGeom prst="roundRect">
            <a:avLst>
              <a:gd name="adj" fmla="val 5645"/>
            </a:avLst>
          </a:prstGeom>
          <a:solidFill>
            <a:srgbClr val="D6F5EE"/>
          </a:solidFill>
          <a:ln w="7620">
            <a:solidFill>
              <a:srgbClr val="BCDBD4"/>
            </a:solidFill>
            <a:prstDash val="solid"/>
          </a:ln>
        </p:spPr>
        <p:txBody>
          <a:bodyPr/>
          <a:lstStyle/>
          <a:p>
            <a:endParaRPr lang="en-US">
              <a:latin typeface="Amasis MT Pro" panose="02040504050005020304" pitchFamily="18" charset="0"/>
            </a:endParaRPr>
          </a:p>
        </p:txBody>
      </p:sp>
      <p:sp>
        <p:nvSpPr>
          <p:cNvPr id="5" name="Text 3"/>
          <p:cNvSpPr/>
          <p:nvPr/>
        </p:nvSpPr>
        <p:spPr>
          <a:xfrm>
            <a:off x="867013" y="3584615"/>
            <a:ext cx="3500676" cy="298371"/>
          </a:xfrm>
          <a:prstGeom prst="rect">
            <a:avLst/>
          </a:prstGeom>
          <a:noFill/>
          <a:ln/>
        </p:spPr>
        <p:txBody>
          <a:bodyPr wrap="none" lIns="0" tIns="0" rIns="0" bIns="0" rtlCol="0" anchor="t"/>
          <a:lstStyle/>
          <a:p>
            <a:pPr marL="0" indent="0" algn="l">
              <a:lnSpc>
                <a:spcPts val="2350"/>
              </a:lnSpc>
              <a:buNone/>
            </a:pPr>
            <a:r>
              <a:rPr lang="en-US" sz="1850" b="1" dirty="0">
                <a:solidFill>
                  <a:srgbClr val="333F70"/>
                </a:solidFill>
                <a:latin typeface="Amasis MT Pro" panose="02040504050005020304" pitchFamily="18" charset="0"/>
                <a:ea typeface="Unbounded Bold" pitchFamily="34" charset="-122"/>
                <a:cs typeface="Unbounded Bold" pitchFamily="34" charset="-120"/>
              </a:rPr>
              <a:t>High Operational Costs</a:t>
            </a:r>
            <a:endParaRPr lang="en-US" sz="1850" dirty="0">
              <a:latin typeface="Amasis MT Pro" panose="02040504050005020304" pitchFamily="18" charset="0"/>
            </a:endParaRPr>
          </a:p>
        </p:txBody>
      </p:sp>
      <p:sp>
        <p:nvSpPr>
          <p:cNvPr id="6" name="Text 4"/>
          <p:cNvSpPr/>
          <p:nvPr/>
        </p:nvSpPr>
        <p:spPr>
          <a:xfrm>
            <a:off x="867013" y="3997523"/>
            <a:ext cx="6154103" cy="611029"/>
          </a:xfrm>
          <a:prstGeom prst="rect">
            <a:avLst/>
          </a:prstGeom>
          <a:noFill/>
          <a:ln/>
        </p:spPr>
        <p:txBody>
          <a:bodyPr wrap="square" lIns="0" tIns="0" rIns="0" bIns="0" rtlCol="0" anchor="t"/>
          <a:lstStyle/>
          <a:p>
            <a:pPr marL="0" indent="0" algn="l">
              <a:lnSpc>
                <a:spcPts val="2400"/>
              </a:lnSpc>
              <a:buNone/>
            </a:pPr>
            <a:r>
              <a:rPr lang="en-US" sz="1500" dirty="0">
                <a:solidFill>
                  <a:srgbClr val="333F70"/>
                </a:solidFill>
                <a:latin typeface="Amasis MT Pro" panose="02040504050005020304" pitchFamily="18" charset="0"/>
                <a:ea typeface="Open Sans" pitchFamily="34" charset="-122"/>
                <a:cs typeface="Open Sans" pitchFamily="34" charset="-120"/>
              </a:rPr>
              <a:t>Manual data entry requires substantial workforce allocation, with each invoice taking 15-20 minutes to process completely.</a:t>
            </a:r>
            <a:endParaRPr lang="en-US" sz="1500" dirty="0">
              <a:latin typeface="Amasis MT Pro" panose="02040504050005020304" pitchFamily="18" charset="0"/>
            </a:endParaRPr>
          </a:p>
        </p:txBody>
      </p:sp>
      <p:sp>
        <p:nvSpPr>
          <p:cNvPr id="7" name="Shape 5"/>
          <p:cNvSpPr/>
          <p:nvPr/>
        </p:nvSpPr>
        <p:spPr>
          <a:xfrm>
            <a:off x="7410688" y="3386018"/>
            <a:ext cx="6551295" cy="1421130"/>
          </a:xfrm>
          <a:prstGeom prst="roundRect">
            <a:avLst>
              <a:gd name="adj" fmla="val 5645"/>
            </a:avLst>
          </a:prstGeom>
          <a:solidFill>
            <a:srgbClr val="D6F5EE"/>
          </a:solidFill>
          <a:ln w="7620">
            <a:solidFill>
              <a:srgbClr val="BCDBD4"/>
            </a:solidFill>
            <a:prstDash val="solid"/>
          </a:ln>
        </p:spPr>
        <p:txBody>
          <a:bodyPr/>
          <a:lstStyle/>
          <a:p>
            <a:endParaRPr lang="en-US">
              <a:latin typeface="Amasis MT Pro" panose="02040504050005020304" pitchFamily="18" charset="0"/>
            </a:endParaRPr>
          </a:p>
        </p:txBody>
      </p:sp>
      <p:sp>
        <p:nvSpPr>
          <p:cNvPr id="8" name="Text 6"/>
          <p:cNvSpPr/>
          <p:nvPr/>
        </p:nvSpPr>
        <p:spPr>
          <a:xfrm>
            <a:off x="7609284" y="3584615"/>
            <a:ext cx="2451735" cy="298371"/>
          </a:xfrm>
          <a:prstGeom prst="rect">
            <a:avLst/>
          </a:prstGeom>
          <a:noFill/>
          <a:ln/>
        </p:spPr>
        <p:txBody>
          <a:bodyPr wrap="none" lIns="0" tIns="0" rIns="0" bIns="0" rtlCol="0" anchor="t"/>
          <a:lstStyle/>
          <a:p>
            <a:pPr marL="0" indent="0" algn="l">
              <a:lnSpc>
                <a:spcPts val="2350"/>
              </a:lnSpc>
              <a:buNone/>
            </a:pPr>
            <a:r>
              <a:rPr lang="en-US" sz="1850" b="1" dirty="0">
                <a:solidFill>
                  <a:srgbClr val="333F70"/>
                </a:solidFill>
                <a:latin typeface="Amasis MT Pro" panose="02040504050005020304" pitchFamily="18" charset="0"/>
                <a:ea typeface="Unbounded Bold" pitchFamily="34" charset="-122"/>
                <a:cs typeface="Unbounded Bold" pitchFamily="34" charset="-120"/>
              </a:rPr>
              <a:t>Payment Delays</a:t>
            </a:r>
            <a:endParaRPr lang="en-US" sz="1850" dirty="0">
              <a:latin typeface="Amasis MT Pro" panose="02040504050005020304" pitchFamily="18" charset="0"/>
            </a:endParaRPr>
          </a:p>
        </p:txBody>
      </p:sp>
      <p:sp>
        <p:nvSpPr>
          <p:cNvPr id="9" name="Text 7"/>
          <p:cNvSpPr/>
          <p:nvPr/>
        </p:nvSpPr>
        <p:spPr>
          <a:xfrm>
            <a:off x="7609284" y="3997523"/>
            <a:ext cx="6154103" cy="611029"/>
          </a:xfrm>
          <a:prstGeom prst="rect">
            <a:avLst/>
          </a:prstGeom>
          <a:noFill/>
          <a:ln/>
        </p:spPr>
        <p:txBody>
          <a:bodyPr wrap="square" lIns="0" tIns="0" rIns="0" bIns="0" rtlCol="0" anchor="t"/>
          <a:lstStyle/>
          <a:p>
            <a:pPr marL="0" indent="0" algn="l">
              <a:lnSpc>
                <a:spcPts val="2400"/>
              </a:lnSpc>
              <a:buNone/>
            </a:pPr>
            <a:r>
              <a:rPr lang="en-US" sz="1500" dirty="0">
                <a:solidFill>
                  <a:srgbClr val="333F70"/>
                </a:solidFill>
                <a:latin typeface="Amasis MT Pro" panose="02040504050005020304" pitchFamily="18" charset="0"/>
                <a:ea typeface="Open Sans" pitchFamily="34" charset="-122"/>
                <a:cs typeface="Open Sans" pitchFamily="34" charset="-120"/>
              </a:rPr>
              <a:t>Slow processing leads to missed payment deadlines, late fees, and damaged supplier relationships that affect negotiating power.</a:t>
            </a:r>
            <a:endParaRPr lang="en-US" sz="1500" dirty="0">
              <a:latin typeface="Amasis MT Pro" panose="02040504050005020304" pitchFamily="18" charset="0"/>
            </a:endParaRPr>
          </a:p>
        </p:txBody>
      </p:sp>
      <p:sp>
        <p:nvSpPr>
          <p:cNvPr id="10" name="Shape 8"/>
          <p:cNvSpPr/>
          <p:nvPr/>
        </p:nvSpPr>
        <p:spPr>
          <a:xfrm>
            <a:off x="668417" y="4998125"/>
            <a:ext cx="6551295" cy="1421130"/>
          </a:xfrm>
          <a:prstGeom prst="roundRect">
            <a:avLst>
              <a:gd name="adj" fmla="val 5645"/>
            </a:avLst>
          </a:prstGeom>
          <a:solidFill>
            <a:srgbClr val="D6F5EE"/>
          </a:solidFill>
          <a:ln w="7620">
            <a:solidFill>
              <a:srgbClr val="BCDBD4"/>
            </a:solidFill>
            <a:prstDash val="solid"/>
          </a:ln>
        </p:spPr>
        <p:txBody>
          <a:bodyPr/>
          <a:lstStyle/>
          <a:p>
            <a:endParaRPr lang="en-US">
              <a:latin typeface="Amasis MT Pro" panose="02040504050005020304" pitchFamily="18" charset="0"/>
            </a:endParaRPr>
          </a:p>
        </p:txBody>
      </p:sp>
      <p:sp>
        <p:nvSpPr>
          <p:cNvPr id="11" name="Text 9"/>
          <p:cNvSpPr/>
          <p:nvPr/>
        </p:nvSpPr>
        <p:spPr>
          <a:xfrm>
            <a:off x="867013" y="5196721"/>
            <a:ext cx="2647236" cy="298371"/>
          </a:xfrm>
          <a:prstGeom prst="rect">
            <a:avLst/>
          </a:prstGeom>
          <a:noFill/>
          <a:ln/>
        </p:spPr>
        <p:txBody>
          <a:bodyPr wrap="none" lIns="0" tIns="0" rIns="0" bIns="0" rtlCol="0" anchor="t"/>
          <a:lstStyle/>
          <a:p>
            <a:pPr marL="0" indent="0" algn="l">
              <a:lnSpc>
                <a:spcPts val="2350"/>
              </a:lnSpc>
              <a:buNone/>
            </a:pPr>
            <a:r>
              <a:rPr lang="en-US" sz="1850" b="1" dirty="0">
                <a:solidFill>
                  <a:srgbClr val="333F70"/>
                </a:solidFill>
                <a:latin typeface="Amasis MT Pro" panose="02040504050005020304" pitchFamily="18" charset="0"/>
                <a:ea typeface="Unbounded Bold" pitchFamily="34" charset="-122"/>
                <a:cs typeface="Unbounded Bold" pitchFamily="34" charset="-120"/>
              </a:rPr>
              <a:t>Data Entry Errors</a:t>
            </a:r>
            <a:endParaRPr lang="en-US" sz="1850" dirty="0">
              <a:latin typeface="Amasis MT Pro" panose="02040504050005020304" pitchFamily="18" charset="0"/>
            </a:endParaRPr>
          </a:p>
        </p:txBody>
      </p:sp>
      <p:sp>
        <p:nvSpPr>
          <p:cNvPr id="12" name="Text 10"/>
          <p:cNvSpPr/>
          <p:nvPr/>
        </p:nvSpPr>
        <p:spPr>
          <a:xfrm>
            <a:off x="867013" y="5609630"/>
            <a:ext cx="6154103" cy="611029"/>
          </a:xfrm>
          <a:prstGeom prst="rect">
            <a:avLst/>
          </a:prstGeom>
          <a:noFill/>
          <a:ln/>
        </p:spPr>
        <p:txBody>
          <a:bodyPr wrap="square" lIns="0" tIns="0" rIns="0" bIns="0" rtlCol="0" anchor="t"/>
          <a:lstStyle/>
          <a:p>
            <a:pPr marL="0" indent="0" algn="l">
              <a:lnSpc>
                <a:spcPts val="2400"/>
              </a:lnSpc>
              <a:buNone/>
            </a:pPr>
            <a:r>
              <a:rPr lang="en-US" sz="1500" dirty="0">
                <a:solidFill>
                  <a:srgbClr val="333F70"/>
                </a:solidFill>
                <a:latin typeface="Amasis MT Pro" panose="02040504050005020304" pitchFamily="18" charset="0"/>
                <a:ea typeface="Open Sans" pitchFamily="34" charset="-122"/>
                <a:cs typeface="Open Sans" pitchFamily="34" charset="-120"/>
              </a:rPr>
              <a:t>Human processing introduces error rates of 3-5%, creating downstream reconciliation issues and compliance risks.</a:t>
            </a:r>
            <a:endParaRPr lang="en-US" sz="1500" dirty="0">
              <a:latin typeface="Amasis MT Pro" panose="02040504050005020304" pitchFamily="18" charset="0"/>
            </a:endParaRPr>
          </a:p>
        </p:txBody>
      </p:sp>
      <p:sp>
        <p:nvSpPr>
          <p:cNvPr id="13" name="Shape 11"/>
          <p:cNvSpPr/>
          <p:nvPr/>
        </p:nvSpPr>
        <p:spPr>
          <a:xfrm>
            <a:off x="7410688" y="4998125"/>
            <a:ext cx="6551295" cy="1421130"/>
          </a:xfrm>
          <a:prstGeom prst="roundRect">
            <a:avLst>
              <a:gd name="adj" fmla="val 5645"/>
            </a:avLst>
          </a:prstGeom>
          <a:solidFill>
            <a:srgbClr val="D6F5EE"/>
          </a:solidFill>
          <a:ln w="7620">
            <a:solidFill>
              <a:srgbClr val="BCDBD4"/>
            </a:solidFill>
            <a:prstDash val="solid"/>
          </a:ln>
        </p:spPr>
        <p:txBody>
          <a:bodyPr/>
          <a:lstStyle/>
          <a:p>
            <a:endParaRPr lang="en-US">
              <a:latin typeface="Amasis MT Pro" panose="02040504050005020304" pitchFamily="18" charset="0"/>
            </a:endParaRPr>
          </a:p>
        </p:txBody>
      </p:sp>
      <p:sp>
        <p:nvSpPr>
          <p:cNvPr id="14" name="Text 12"/>
          <p:cNvSpPr/>
          <p:nvPr/>
        </p:nvSpPr>
        <p:spPr>
          <a:xfrm>
            <a:off x="7609284" y="5196721"/>
            <a:ext cx="3469600" cy="298371"/>
          </a:xfrm>
          <a:prstGeom prst="rect">
            <a:avLst/>
          </a:prstGeom>
          <a:noFill/>
          <a:ln/>
        </p:spPr>
        <p:txBody>
          <a:bodyPr wrap="none" lIns="0" tIns="0" rIns="0" bIns="0" rtlCol="0" anchor="t"/>
          <a:lstStyle/>
          <a:p>
            <a:pPr marL="0" indent="0" algn="l">
              <a:lnSpc>
                <a:spcPts val="2350"/>
              </a:lnSpc>
              <a:buNone/>
            </a:pPr>
            <a:r>
              <a:rPr lang="en-US" sz="1850" b="1" dirty="0">
                <a:solidFill>
                  <a:srgbClr val="333F70"/>
                </a:solidFill>
                <a:latin typeface="Amasis MT Pro" panose="02040504050005020304" pitchFamily="18" charset="0"/>
                <a:ea typeface="Unbounded Bold" pitchFamily="34" charset="-122"/>
                <a:cs typeface="Unbounded Bold" pitchFamily="34" charset="-120"/>
              </a:rPr>
              <a:t>Poor Financial Visibility</a:t>
            </a:r>
            <a:endParaRPr lang="en-US" sz="1850" dirty="0">
              <a:latin typeface="Amasis MT Pro" panose="02040504050005020304" pitchFamily="18" charset="0"/>
            </a:endParaRPr>
          </a:p>
        </p:txBody>
      </p:sp>
      <p:sp>
        <p:nvSpPr>
          <p:cNvPr id="15" name="Text 13"/>
          <p:cNvSpPr/>
          <p:nvPr/>
        </p:nvSpPr>
        <p:spPr>
          <a:xfrm>
            <a:off x="7609284" y="5609630"/>
            <a:ext cx="6154103" cy="611029"/>
          </a:xfrm>
          <a:prstGeom prst="rect">
            <a:avLst/>
          </a:prstGeom>
          <a:noFill/>
          <a:ln/>
        </p:spPr>
        <p:txBody>
          <a:bodyPr wrap="square" lIns="0" tIns="0" rIns="0" bIns="0" rtlCol="0" anchor="t"/>
          <a:lstStyle/>
          <a:p>
            <a:pPr marL="0" indent="0" algn="l">
              <a:lnSpc>
                <a:spcPts val="2400"/>
              </a:lnSpc>
              <a:buNone/>
            </a:pPr>
            <a:r>
              <a:rPr lang="en-US" sz="1500" dirty="0">
                <a:solidFill>
                  <a:srgbClr val="333F70"/>
                </a:solidFill>
                <a:latin typeface="Amasis MT Pro" panose="02040504050005020304" pitchFamily="18" charset="0"/>
                <a:ea typeface="Open Sans" pitchFamily="34" charset="-122"/>
                <a:cs typeface="Open Sans" pitchFamily="34" charset="-120"/>
              </a:rPr>
              <a:t>Fragmented data across systems prevents real-time insights into spending patterns, cash flow projections, and compliance status.</a:t>
            </a:r>
            <a:endParaRPr lang="en-US" sz="1500" dirty="0">
              <a:latin typeface="Amasis MT Pro" panose="02040504050005020304" pitchFamily="18" charset="0"/>
            </a:endParaRPr>
          </a:p>
        </p:txBody>
      </p:sp>
      <p:sp>
        <p:nvSpPr>
          <p:cNvPr id="16" name="Text 14"/>
          <p:cNvSpPr/>
          <p:nvPr/>
        </p:nvSpPr>
        <p:spPr>
          <a:xfrm>
            <a:off x="668417" y="6634043"/>
            <a:ext cx="13293566" cy="611029"/>
          </a:xfrm>
          <a:prstGeom prst="rect">
            <a:avLst/>
          </a:prstGeom>
          <a:noFill/>
          <a:ln/>
        </p:spPr>
        <p:txBody>
          <a:bodyPr wrap="square" lIns="0" tIns="0" rIns="0" bIns="0" rtlCol="0" anchor="t"/>
          <a:lstStyle/>
          <a:p>
            <a:pPr marL="0" indent="0" algn="l">
              <a:lnSpc>
                <a:spcPts val="2400"/>
              </a:lnSpc>
              <a:buNone/>
            </a:pPr>
            <a:r>
              <a:rPr lang="en-US" sz="1500" dirty="0">
                <a:solidFill>
                  <a:srgbClr val="333F70"/>
                </a:solidFill>
                <a:latin typeface="Amasis MT Pro" panose="02040504050005020304" pitchFamily="18" charset="0"/>
                <a:ea typeface="Open Sans" pitchFamily="34" charset="-122"/>
                <a:cs typeface="Open Sans" pitchFamily="34" charset="-120"/>
              </a:rPr>
              <a:t>Finance teams struggle particularly with unifying data across currencies, reconciling inconsistent fields from different vendors, and extracting accurate information from unstructured PDFs and scanned documents—creating a perfect storm of inefficiency and missed opportunities.</a:t>
            </a:r>
            <a:endParaRPr lang="en-US" sz="1500" dirty="0">
              <a:latin typeface="Amasis MT Pro" panose="02040504050005020304" pitchFamily="18" charset="0"/>
            </a:endParaRPr>
          </a:p>
        </p:txBody>
      </p:sp>
      <p:pic>
        <p:nvPicPr>
          <p:cNvPr id="18" name="Picture 17">
            <a:extLst>
              <a:ext uri="{FF2B5EF4-FFF2-40B4-BE49-F238E27FC236}">
                <a16:creationId xmlns:a16="http://schemas.microsoft.com/office/drawing/2014/main" id="{2FA38AF1-0AEE-64C4-E247-CCF02A4C23EC}"/>
              </a:ext>
            </a:extLst>
          </p:cNvPr>
          <p:cNvPicPr>
            <a:picLocks noChangeAspect="1"/>
          </p:cNvPicPr>
          <p:nvPr/>
        </p:nvPicPr>
        <p:blipFill>
          <a:blip r:embed="rId3"/>
          <a:stretch>
            <a:fillRect/>
          </a:stretch>
        </p:blipFill>
        <p:spPr>
          <a:xfrm>
            <a:off x="11804292" y="7388243"/>
            <a:ext cx="1959095" cy="65931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74144" y="609362"/>
            <a:ext cx="9292471" cy="691277"/>
          </a:xfrm>
          <a:prstGeom prst="rect">
            <a:avLst/>
          </a:prstGeom>
          <a:noFill/>
          <a:ln/>
        </p:spPr>
        <p:txBody>
          <a:bodyPr wrap="none" lIns="0" tIns="0" rIns="0" bIns="0" rtlCol="0" anchor="t"/>
          <a:lstStyle/>
          <a:p>
            <a:pPr marL="0" indent="0" algn="l">
              <a:lnSpc>
                <a:spcPts val="5400"/>
              </a:lnSpc>
              <a:buNone/>
            </a:pPr>
            <a:r>
              <a:rPr lang="en-US" sz="4350" b="1" dirty="0">
                <a:solidFill>
                  <a:srgbClr val="333F70"/>
                </a:solidFill>
                <a:latin typeface="Amasis MT Pro" panose="02040504050005020304" pitchFamily="18" charset="0"/>
                <a:ea typeface="Unbounded Bold" pitchFamily="34" charset="-122"/>
                <a:cs typeface="Unbounded Bold" pitchFamily="34" charset="-120"/>
              </a:rPr>
              <a:t>Key Processing Challenges</a:t>
            </a:r>
            <a:endParaRPr lang="en-US" sz="4350" dirty="0">
              <a:latin typeface="Amasis MT Pro" panose="02040504050005020304" pitchFamily="18" charset="0"/>
            </a:endParaRPr>
          </a:p>
        </p:txBody>
      </p:sp>
      <p:sp>
        <p:nvSpPr>
          <p:cNvPr id="3" name="Text 1"/>
          <p:cNvSpPr/>
          <p:nvPr/>
        </p:nvSpPr>
        <p:spPr>
          <a:xfrm>
            <a:off x="774144" y="1831419"/>
            <a:ext cx="8314492" cy="1061561"/>
          </a:xfrm>
          <a:prstGeom prst="rect">
            <a:avLst/>
          </a:prstGeom>
          <a:noFill/>
          <a:ln/>
        </p:spPr>
        <p:txBody>
          <a:bodyPr wrap="square" lIns="0" tIns="0" rIns="0" bIns="0" rtlCol="0" anchor="t"/>
          <a:lstStyle/>
          <a:p>
            <a:pPr marL="0" indent="0" algn="l">
              <a:lnSpc>
                <a:spcPts val="2750"/>
              </a:lnSpc>
              <a:buNone/>
            </a:pPr>
            <a:r>
              <a:rPr lang="en-US" sz="1700" dirty="0">
                <a:solidFill>
                  <a:srgbClr val="333F70"/>
                </a:solidFill>
                <a:latin typeface="Amasis MT Pro" panose="02040504050005020304" pitchFamily="18" charset="0"/>
                <a:ea typeface="Open Sans" pitchFamily="34" charset="-122"/>
                <a:cs typeface="Open Sans" pitchFamily="34" charset="-120"/>
              </a:rPr>
              <a:t>The complexity of global invoice processing extends beyond simple data entry issues. Modern finance departments face multiple interconnected challenges that significantly impact operations:</a:t>
            </a:r>
            <a:endParaRPr lang="en-US" sz="1700" dirty="0">
              <a:latin typeface="Amasis MT Pro" panose="02040504050005020304" pitchFamily="18" charset="0"/>
            </a:endParaRPr>
          </a:p>
        </p:txBody>
      </p:sp>
      <p:pic>
        <p:nvPicPr>
          <p:cNvPr id="4" name="Image 0" descr="preencoded.png"/>
          <p:cNvPicPr>
            <a:picLocks noChangeAspect="1"/>
          </p:cNvPicPr>
          <p:nvPr/>
        </p:nvPicPr>
        <p:blipFill>
          <a:blip r:embed="rId3"/>
          <a:stretch>
            <a:fillRect/>
          </a:stretch>
        </p:blipFill>
        <p:spPr>
          <a:xfrm>
            <a:off x="774144" y="3141821"/>
            <a:ext cx="8314492" cy="3119914"/>
          </a:xfrm>
          <a:prstGeom prst="rect">
            <a:avLst/>
          </a:prstGeom>
        </p:spPr>
      </p:pic>
      <p:pic>
        <p:nvPicPr>
          <p:cNvPr id="5" name="Image 1" descr="preencoded.png"/>
          <p:cNvPicPr>
            <a:picLocks noChangeAspect="1"/>
          </p:cNvPicPr>
          <p:nvPr/>
        </p:nvPicPr>
        <p:blipFill>
          <a:blip r:embed="rId4"/>
          <a:stretch>
            <a:fillRect/>
          </a:stretch>
        </p:blipFill>
        <p:spPr>
          <a:xfrm>
            <a:off x="7874751" y="3936519"/>
            <a:ext cx="429468" cy="429468"/>
          </a:xfrm>
          <a:prstGeom prst="rect">
            <a:avLst/>
          </a:prstGeom>
        </p:spPr>
      </p:pic>
      <p:sp>
        <p:nvSpPr>
          <p:cNvPr id="6" name="Text 2"/>
          <p:cNvSpPr/>
          <p:nvPr/>
        </p:nvSpPr>
        <p:spPr>
          <a:xfrm>
            <a:off x="7492121" y="5383559"/>
            <a:ext cx="1254048" cy="483152"/>
          </a:xfrm>
          <a:prstGeom prst="rect">
            <a:avLst/>
          </a:prstGeom>
          <a:noFill/>
          <a:ln/>
        </p:spPr>
        <p:txBody>
          <a:bodyPr wrap="square" lIns="0" tIns="0" rIns="0" bIns="0" rtlCol="0" anchor="t"/>
          <a:lstStyle/>
          <a:p>
            <a:pPr marL="0" indent="0" algn="ctr">
              <a:lnSpc>
                <a:spcPts val="1650"/>
              </a:lnSpc>
              <a:buNone/>
            </a:pPr>
            <a:r>
              <a:rPr lang="en-US" sz="1350" b="1" dirty="0">
                <a:solidFill>
                  <a:srgbClr val="333F70"/>
                </a:solidFill>
                <a:latin typeface="Amasis MT Pro" panose="02040504050005020304" pitchFamily="18" charset="0"/>
                <a:ea typeface="Unbounded Bold" pitchFamily="34" charset="-122"/>
                <a:cs typeface="Unbounded Bold" pitchFamily="34" charset="-120"/>
              </a:rPr>
              <a:t>Scaling Problems</a:t>
            </a:r>
            <a:endParaRPr lang="en-US" sz="1350" dirty="0">
              <a:latin typeface="Amasis MT Pro" panose="02040504050005020304" pitchFamily="18" charset="0"/>
            </a:endParaRPr>
          </a:p>
        </p:txBody>
      </p:sp>
      <p:pic>
        <p:nvPicPr>
          <p:cNvPr id="7" name="Image 2" descr="preencoded.png"/>
          <p:cNvPicPr>
            <a:picLocks noChangeAspect="1"/>
          </p:cNvPicPr>
          <p:nvPr/>
        </p:nvPicPr>
        <p:blipFill>
          <a:blip r:embed="rId5"/>
          <a:stretch>
            <a:fillRect/>
          </a:stretch>
        </p:blipFill>
        <p:spPr>
          <a:xfrm>
            <a:off x="6302493" y="3937324"/>
            <a:ext cx="429469" cy="429469"/>
          </a:xfrm>
          <a:prstGeom prst="rect">
            <a:avLst/>
          </a:prstGeom>
        </p:spPr>
      </p:pic>
      <p:sp>
        <p:nvSpPr>
          <p:cNvPr id="8" name="Text 3"/>
          <p:cNvSpPr/>
          <p:nvPr/>
        </p:nvSpPr>
        <p:spPr>
          <a:xfrm>
            <a:off x="5911677" y="5383559"/>
            <a:ext cx="1254048" cy="483152"/>
          </a:xfrm>
          <a:prstGeom prst="rect">
            <a:avLst/>
          </a:prstGeom>
          <a:noFill/>
          <a:ln/>
        </p:spPr>
        <p:txBody>
          <a:bodyPr wrap="square" lIns="0" tIns="0" rIns="0" bIns="0" rtlCol="0" anchor="t"/>
          <a:lstStyle/>
          <a:p>
            <a:pPr marL="0" indent="0" algn="ctr">
              <a:lnSpc>
                <a:spcPts val="1650"/>
              </a:lnSpc>
              <a:buNone/>
            </a:pPr>
            <a:r>
              <a:rPr lang="en-US" sz="1350" b="1" dirty="0">
                <a:solidFill>
                  <a:srgbClr val="333F70"/>
                </a:solidFill>
                <a:latin typeface="Amasis MT Pro" panose="02040504050005020304" pitchFamily="18" charset="0"/>
                <a:ea typeface="Unbounded Bold" pitchFamily="34" charset="-122"/>
                <a:cs typeface="Unbounded Bold" pitchFamily="34" charset="-120"/>
              </a:rPr>
              <a:t>Field Variability</a:t>
            </a:r>
            <a:endParaRPr lang="en-US" sz="1350" dirty="0">
              <a:latin typeface="Amasis MT Pro" panose="02040504050005020304" pitchFamily="18" charset="0"/>
            </a:endParaRPr>
          </a:p>
        </p:txBody>
      </p:sp>
      <p:pic>
        <p:nvPicPr>
          <p:cNvPr id="9" name="Image 3" descr="preencoded.png"/>
          <p:cNvPicPr>
            <a:picLocks noChangeAspect="1"/>
          </p:cNvPicPr>
          <p:nvPr/>
        </p:nvPicPr>
        <p:blipFill>
          <a:blip r:embed="rId6"/>
          <a:stretch>
            <a:fillRect/>
          </a:stretch>
        </p:blipFill>
        <p:spPr>
          <a:xfrm>
            <a:off x="4730640" y="3937324"/>
            <a:ext cx="429468" cy="429469"/>
          </a:xfrm>
          <a:prstGeom prst="rect">
            <a:avLst/>
          </a:prstGeom>
        </p:spPr>
      </p:pic>
      <p:sp>
        <p:nvSpPr>
          <p:cNvPr id="10" name="Text 4"/>
          <p:cNvSpPr/>
          <p:nvPr/>
        </p:nvSpPr>
        <p:spPr>
          <a:xfrm>
            <a:off x="4339823" y="5262771"/>
            <a:ext cx="1254047" cy="724728"/>
          </a:xfrm>
          <a:prstGeom prst="rect">
            <a:avLst/>
          </a:prstGeom>
          <a:noFill/>
          <a:ln/>
        </p:spPr>
        <p:txBody>
          <a:bodyPr wrap="square" lIns="0" tIns="0" rIns="0" bIns="0" rtlCol="0" anchor="t"/>
          <a:lstStyle/>
          <a:p>
            <a:pPr marL="0" indent="0" algn="ctr">
              <a:lnSpc>
                <a:spcPts val="1650"/>
              </a:lnSpc>
              <a:buNone/>
            </a:pPr>
            <a:r>
              <a:rPr lang="en-US" sz="1350" b="1" dirty="0">
                <a:solidFill>
                  <a:srgbClr val="333F70"/>
                </a:solidFill>
                <a:latin typeface="Amasis MT Pro" panose="02040504050005020304" pitchFamily="18" charset="0"/>
                <a:ea typeface="Unbounded Bold" pitchFamily="34" charset="-122"/>
                <a:cs typeface="Unbounded Bold" pitchFamily="34" charset="-120"/>
              </a:rPr>
              <a:t>Multiple Currencies</a:t>
            </a:r>
            <a:endParaRPr lang="en-US" sz="1350" dirty="0">
              <a:latin typeface="Amasis MT Pro" panose="02040504050005020304" pitchFamily="18" charset="0"/>
            </a:endParaRPr>
          </a:p>
        </p:txBody>
      </p:sp>
      <p:pic>
        <p:nvPicPr>
          <p:cNvPr id="11" name="Image 4" descr="preencoded.png"/>
          <p:cNvPicPr>
            <a:picLocks noChangeAspect="1"/>
          </p:cNvPicPr>
          <p:nvPr/>
        </p:nvPicPr>
        <p:blipFill>
          <a:blip r:embed="rId7"/>
          <a:stretch>
            <a:fillRect/>
          </a:stretch>
        </p:blipFill>
        <p:spPr>
          <a:xfrm>
            <a:off x="3158785" y="3937324"/>
            <a:ext cx="429468" cy="429469"/>
          </a:xfrm>
          <a:prstGeom prst="rect">
            <a:avLst/>
          </a:prstGeom>
        </p:spPr>
      </p:pic>
      <p:sp>
        <p:nvSpPr>
          <p:cNvPr id="12" name="Text 5"/>
          <p:cNvSpPr/>
          <p:nvPr/>
        </p:nvSpPr>
        <p:spPr>
          <a:xfrm>
            <a:off x="2767969" y="5383559"/>
            <a:ext cx="1254048" cy="483152"/>
          </a:xfrm>
          <a:prstGeom prst="rect">
            <a:avLst/>
          </a:prstGeom>
          <a:noFill/>
          <a:ln/>
        </p:spPr>
        <p:txBody>
          <a:bodyPr wrap="square" lIns="0" tIns="0" rIns="0" bIns="0" rtlCol="0" anchor="t"/>
          <a:lstStyle/>
          <a:p>
            <a:pPr marL="0" indent="0" algn="ctr">
              <a:lnSpc>
                <a:spcPts val="1650"/>
              </a:lnSpc>
              <a:buNone/>
            </a:pPr>
            <a:r>
              <a:rPr lang="en-US" sz="1350" b="1" dirty="0">
                <a:solidFill>
                  <a:srgbClr val="333F70"/>
                </a:solidFill>
                <a:latin typeface="Amasis MT Pro" panose="02040504050005020304" pitchFamily="18" charset="0"/>
                <a:ea typeface="Unbounded Bold" pitchFamily="34" charset="-122"/>
                <a:cs typeface="Unbounded Bold" pitchFamily="34" charset="-120"/>
              </a:rPr>
              <a:t>Unstructured Data</a:t>
            </a:r>
            <a:endParaRPr lang="en-US" sz="1350" dirty="0">
              <a:latin typeface="Amasis MT Pro" panose="02040504050005020304" pitchFamily="18" charset="0"/>
            </a:endParaRPr>
          </a:p>
        </p:txBody>
      </p:sp>
      <p:pic>
        <p:nvPicPr>
          <p:cNvPr id="13" name="Image 5" descr="preencoded.png"/>
          <p:cNvPicPr>
            <a:picLocks noChangeAspect="1"/>
          </p:cNvPicPr>
          <p:nvPr/>
        </p:nvPicPr>
        <p:blipFill>
          <a:blip r:embed="rId8"/>
          <a:stretch>
            <a:fillRect/>
          </a:stretch>
        </p:blipFill>
        <p:spPr>
          <a:xfrm>
            <a:off x="1578342" y="3937324"/>
            <a:ext cx="429468" cy="429469"/>
          </a:xfrm>
          <a:prstGeom prst="rect">
            <a:avLst/>
          </a:prstGeom>
        </p:spPr>
      </p:pic>
      <p:sp>
        <p:nvSpPr>
          <p:cNvPr id="14" name="Text 6"/>
          <p:cNvSpPr/>
          <p:nvPr/>
        </p:nvSpPr>
        <p:spPr>
          <a:xfrm>
            <a:off x="1161757" y="5262771"/>
            <a:ext cx="1254048" cy="724728"/>
          </a:xfrm>
          <a:prstGeom prst="rect">
            <a:avLst/>
          </a:prstGeom>
          <a:noFill/>
          <a:ln/>
        </p:spPr>
        <p:txBody>
          <a:bodyPr wrap="square" lIns="0" tIns="0" rIns="0" bIns="0" rtlCol="0" anchor="t"/>
          <a:lstStyle/>
          <a:p>
            <a:pPr marL="0" indent="0" algn="ctr">
              <a:lnSpc>
                <a:spcPts val="1650"/>
              </a:lnSpc>
              <a:buNone/>
            </a:pPr>
            <a:r>
              <a:rPr lang="en-US" sz="1350" b="1" dirty="0">
                <a:solidFill>
                  <a:srgbClr val="333F70"/>
                </a:solidFill>
                <a:latin typeface="Amasis MT Pro" panose="02040504050005020304" pitchFamily="18" charset="0"/>
                <a:ea typeface="Unbounded Bold" pitchFamily="34" charset="-122"/>
                <a:cs typeface="Unbounded Bold" pitchFamily="34" charset="-120"/>
              </a:rPr>
              <a:t>Multi-language Invoices</a:t>
            </a:r>
            <a:endParaRPr lang="en-US" sz="1350" dirty="0">
              <a:latin typeface="Amasis MT Pro" panose="02040504050005020304" pitchFamily="18" charset="0"/>
            </a:endParaRPr>
          </a:p>
        </p:txBody>
      </p:sp>
      <p:sp>
        <p:nvSpPr>
          <p:cNvPr id="15" name="Text 7"/>
          <p:cNvSpPr/>
          <p:nvPr/>
        </p:nvSpPr>
        <p:spPr>
          <a:xfrm>
            <a:off x="9635847" y="1831419"/>
            <a:ext cx="4227909" cy="707707"/>
          </a:xfrm>
          <a:prstGeom prst="rect">
            <a:avLst/>
          </a:prstGeom>
          <a:noFill/>
          <a:ln/>
        </p:spPr>
        <p:txBody>
          <a:bodyPr wrap="square" lIns="0" tIns="0" rIns="0" bIns="0" rtlCol="0" anchor="t"/>
          <a:lstStyle/>
          <a:p>
            <a:pPr marL="0" indent="0" algn="l">
              <a:lnSpc>
                <a:spcPts val="2750"/>
              </a:lnSpc>
              <a:buNone/>
            </a:pPr>
            <a:r>
              <a:rPr lang="en-US" sz="1700" dirty="0">
                <a:solidFill>
                  <a:srgbClr val="333F70"/>
                </a:solidFill>
                <a:latin typeface="Amasis MT Pro" panose="02040504050005020304" pitchFamily="18" charset="0"/>
                <a:ea typeface="Open Sans" pitchFamily="34" charset="-122"/>
                <a:cs typeface="Open Sans" pitchFamily="34" charset="-120"/>
              </a:rPr>
              <a:t>These challenges compound as businesses grow:</a:t>
            </a:r>
            <a:endParaRPr lang="en-US" sz="1700" dirty="0">
              <a:latin typeface="Amasis MT Pro" panose="02040504050005020304" pitchFamily="18" charset="0"/>
            </a:endParaRPr>
          </a:p>
        </p:txBody>
      </p:sp>
      <p:sp>
        <p:nvSpPr>
          <p:cNvPr id="16" name="Text 8"/>
          <p:cNvSpPr/>
          <p:nvPr/>
        </p:nvSpPr>
        <p:spPr>
          <a:xfrm>
            <a:off x="9635847" y="2738199"/>
            <a:ext cx="4227909" cy="707707"/>
          </a:xfrm>
          <a:prstGeom prst="rect">
            <a:avLst/>
          </a:prstGeom>
          <a:noFill/>
          <a:ln/>
        </p:spPr>
        <p:txBody>
          <a:bodyPr wrap="square" lIns="0" tIns="0" rIns="0" bIns="0" rtlCol="0" anchor="t"/>
          <a:lstStyle/>
          <a:p>
            <a:pPr marL="342900" indent="-342900" algn="l">
              <a:lnSpc>
                <a:spcPts val="2750"/>
              </a:lnSpc>
              <a:buSzPct val="100000"/>
              <a:buChar char="•"/>
            </a:pPr>
            <a:r>
              <a:rPr lang="en-US" sz="1700" dirty="0">
                <a:solidFill>
                  <a:srgbClr val="333F70"/>
                </a:solidFill>
                <a:latin typeface="Amasis MT Pro" panose="02040504050005020304" pitchFamily="18" charset="0"/>
                <a:ea typeface="Open Sans" pitchFamily="34" charset="-122"/>
                <a:cs typeface="Open Sans" pitchFamily="34" charset="-120"/>
              </a:rPr>
              <a:t>Each acquisition introduces new invoice formats</a:t>
            </a:r>
            <a:endParaRPr lang="en-US" sz="1700" dirty="0">
              <a:latin typeface="Amasis MT Pro" panose="02040504050005020304" pitchFamily="18" charset="0"/>
            </a:endParaRPr>
          </a:p>
        </p:txBody>
      </p:sp>
      <p:sp>
        <p:nvSpPr>
          <p:cNvPr id="17" name="Text 9"/>
          <p:cNvSpPr/>
          <p:nvPr/>
        </p:nvSpPr>
        <p:spPr>
          <a:xfrm>
            <a:off x="9635847" y="3523298"/>
            <a:ext cx="4227909" cy="707707"/>
          </a:xfrm>
          <a:prstGeom prst="rect">
            <a:avLst/>
          </a:prstGeom>
          <a:noFill/>
          <a:ln/>
        </p:spPr>
        <p:txBody>
          <a:bodyPr wrap="square" lIns="0" tIns="0" rIns="0" bIns="0" rtlCol="0" anchor="t"/>
          <a:lstStyle/>
          <a:p>
            <a:pPr marL="342900" indent="-342900" algn="l">
              <a:lnSpc>
                <a:spcPts val="2750"/>
              </a:lnSpc>
              <a:buSzPct val="100000"/>
              <a:buChar char="•"/>
            </a:pPr>
            <a:r>
              <a:rPr lang="en-US" sz="1700" dirty="0">
                <a:solidFill>
                  <a:srgbClr val="333F70"/>
                </a:solidFill>
                <a:latin typeface="Amasis MT Pro" panose="02040504050005020304" pitchFamily="18" charset="0"/>
                <a:ea typeface="Open Sans" pitchFamily="34" charset="-122"/>
                <a:cs typeface="Open Sans" pitchFamily="34" charset="-120"/>
              </a:rPr>
              <a:t>Expanding globally adds language complexity</a:t>
            </a:r>
            <a:endParaRPr lang="en-US" sz="1700" dirty="0">
              <a:latin typeface="Amasis MT Pro" panose="02040504050005020304" pitchFamily="18" charset="0"/>
            </a:endParaRPr>
          </a:p>
        </p:txBody>
      </p:sp>
      <p:sp>
        <p:nvSpPr>
          <p:cNvPr id="18" name="Text 10"/>
          <p:cNvSpPr/>
          <p:nvPr/>
        </p:nvSpPr>
        <p:spPr>
          <a:xfrm>
            <a:off x="9635847" y="4308396"/>
            <a:ext cx="4227909" cy="707707"/>
          </a:xfrm>
          <a:prstGeom prst="rect">
            <a:avLst/>
          </a:prstGeom>
          <a:noFill/>
          <a:ln/>
        </p:spPr>
        <p:txBody>
          <a:bodyPr wrap="square" lIns="0" tIns="0" rIns="0" bIns="0" rtlCol="0" anchor="t"/>
          <a:lstStyle/>
          <a:p>
            <a:pPr marL="342900" indent="-342900" algn="l">
              <a:lnSpc>
                <a:spcPts val="2750"/>
              </a:lnSpc>
              <a:buSzPct val="100000"/>
              <a:buChar char="•"/>
            </a:pPr>
            <a:r>
              <a:rPr lang="en-US" sz="1700" dirty="0">
                <a:solidFill>
                  <a:srgbClr val="333F70"/>
                </a:solidFill>
                <a:latin typeface="Amasis MT Pro" panose="02040504050005020304" pitchFamily="18" charset="0"/>
                <a:ea typeface="Open Sans" pitchFamily="34" charset="-122"/>
                <a:cs typeface="Open Sans" pitchFamily="34" charset="-120"/>
              </a:rPr>
              <a:t>Supplier diversity increases template variations</a:t>
            </a:r>
            <a:endParaRPr lang="en-US" sz="1700" dirty="0">
              <a:latin typeface="Amasis MT Pro" panose="02040504050005020304" pitchFamily="18" charset="0"/>
            </a:endParaRPr>
          </a:p>
        </p:txBody>
      </p:sp>
      <p:sp>
        <p:nvSpPr>
          <p:cNvPr id="19" name="Text 11"/>
          <p:cNvSpPr/>
          <p:nvPr/>
        </p:nvSpPr>
        <p:spPr>
          <a:xfrm>
            <a:off x="9635847" y="5093494"/>
            <a:ext cx="4227909" cy="707707"/>
          </a:xfrm>
          <a:prstGeom prst="rect">
            <a:avLst/>
          </a:prstGeom>
          <a:noFill/>
          <a:ln/>
        </p:spPr>
        <p:txBody>
          <a:bodyPr wrap="square" lIns="0" tIns="0" rIns="0" bIns="0" rtlCol="0" anchor="t"/>
          <a:lstStyle/>
          <a:p>
            <a:pPr marL="342900" indent="-342900" algn="l">
              <a:lnSpc>
                <a:spcPts val="2750"/>
              </a:lnSpc>
              <a:buSzPct val="100000"/>
              <a:buChar char="•"/>
            </a:pPr>
            <a:r>
              <a:rPr lang="en-US" sz="1700" dirty="0">
                <a:solidFill>
                  <a:srgbClr val="333F70"/>
                </a:solidFill>
                <a:latin typeface="Amasis MT Pro" panose="02040504050005020304" pitchFamily="18" charset="0"/>
                <a:ea typeface="Open Sans" pitchFamily="34" charset="-122"/>
                <a:cs typeface="Open Sans" pitchFamily="34" charset="-120"/>
              </a:rPr>
              <a:t>Regulatory requirements differ by region</a:t>
            </a:r>
            <a:endParaRPr lang="en-US" sz="1700" dirty="0">
              <a:latin typeface="Amasis MT Pro" panose="02040504050005020304" pitchFamily="18" charset="0"/>
            </a:endParaRPr>
          </a:p>
        </p:txBody>
      </p:sp>
      <p:sp>
        <p:nvSpPr>
          <p:cNvPr id="20" name="Text 12"/>
          <p:cNvSpPr/>
          <p:nvPr/>
        </p:nvSpPr>
        <p:spPr>
          <a:xfrm>
            <a:off x="9635847" y="5878592"/>
            <a:ext cx="4227909" cy="707707"/>
          </a:xfrm>
          <a:prstGeom prst="rect">
            <a:avLst/>
          </a:prstGeom>
          <a:noFill/>
          <a:ln/>
        </p:spPr>
        <p:txBody>
          <a:bodyPr wrap="square" lIns="0" tIns="0" rIns="0" bIns="0" rtlCol="0" anchor="t"/>
          <a:lstStyle/>
          <a:p>
            <a:pPr marL="342900" indent="-342900" algn="l">
              <a:lnSpc>
                <a:spcPts val="2750"/>
              </a:lnSpc>
              <a:buSzPct val="100000"/>
              <a:buChar char="•"/>
            </a:pPr>
            <a:r>
              <a:rPr lang="en-US" sz="1700" dirty="0">
                <a:solidFill>
                  <a:srgbClr val="333F70"/>
                </a:solidFill>
                <a:latin typeface="Amasis MT Pro" panose="02040504050005020304" pitchFamily="18" charset="0"/>
                <a:ea typeface="Open Sans" pitchFamily="34" charset="-122"/>
                <a:cs typeface="Open Sans" pitchFamily="34" charset="-120"/>
              </a:rPr>
              <a:t>Currency fluctuations affect financial reporting</a:t>
            </a:r>
            <a:endParaRPr lang="en-US" sz="1700" dirty="0">
              <a:latin typeface="Amasis MT Pro" panose="02040504050005020304" pitchFamily="18" charset="0"/>
            </a:endParaRPr>
          </a:p>
        </p:txBody>
      </p:sp>
      <p:sp>
        <p:nvSpPr>
          <p:cNvPr id="21" name="Text 13"/>
          <p:cNvSpPr/>
          <p:nvPr/>
        </p:nvSpPr>
        <p:spPr>
          <a:xfrm>
            <a:off x="774144" y="6912531"/>
            <a:ext cx="13082111" cy="707707"/>
          </a:xfrm>
          <a:prstGeom prst="rect">
            <a:avLst/>
          </a:prstGeom>
          <a:noFill/>
          <a:ln/>
        </p:spPr>
        <p:txBody>
          <a:bodyPr wrap="square" lIns="0" tIns="0" rIns="0" bIns="0" rtlCol="0" anchor="t"/>
          <a:lstStyle/>
          <a:p>
            <a:pPr marL="0" indent="0" algn="l">
              <a:lnSpc>
                <a:spcPts val="2750"/>
              </a:lnSpc>
              <a:buNone/>
            </a:pPr>
            <a:r>
              <a:rPr lang="en-US" sz="1700" dirty="0">
                <a:solidFill>
                  <a:srgbClr val="333F70"/>
                </a:solidFill>
                <a:latin typeface="Amasis MT Pro" panose="02040504050005020304" pitchFamily="18" charset="0"/>
                <a:ea typeface="Open Sans" pitchFamily="34" charset="-122"/>
                <a:cs typeface="Open Sans" pitchFamily="34" charset="-120"/>
              </a:rPr>
              <a:t>Without automation, these challenges create bottlenecks that directly impact cash flow, reporting accuracy, and financial decision-making capabilities across the enterprise.</a:t>
            </a:r>
            <a:endParaRPr lang="en-US" sz="1700" dirty="0">
              <a:latin typeface="Amasis MT Pro" panose="02040504050005020304" pitchFamily="18" charset="0"/>
            </a:endParaRPr>
          </a:p>
        </p:txBody>
      </p:sp>
      <p:pic>
        <p:nvPicPr>
          <p:cNvPr id="22" name="Picture 21">
            <a:extLst>
              <a:ext uri="{FF2B5EF4-FFF2-40B4-BE49-F238E27FC236}">
                <a16:creationId xmlns:a16="http://schemas.microsoft.com/office/drawing/2014/main" id="{D555D338-E251-0328-F6CD-32CAEC7AC9BA}"/>
              </a:ext>
            </a:extLst>
          </p:cNvPr>
          <p:cNvPicPr>
            <a:picLocks noChangeAspect="1"/>
          </p:cNvPicPr>
          <p:nvPr/>
        </p:nvPicPr>
        <p:blipFill>
          <a:blip r:embed="rId9"/>
          <a:stretch>
            <a:fillRect/>
          </a:stretch>
        </p:blipFill>
        <p:spPr>
          <a:xfrm>
            <a:off x="11804292" y="7388243"/>
            <a:ext cx="1959095" cy="65931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1163" y="824508"/>
            <a:ext cx="11463576" cy="652701"/>
          </a:xfrm>
          <a:prstGeom prst="rect">
            <a:avLst/>
          </a:prstGeom>
          <a:noFill/>
          <a:ln/>
        </p:spPr>
        <p:txBody>
          <a:bodyPr wrap="none" lIns="0" tIns="0" rIns="0" bIns="0" rtlCol="0" anchor="t"/>
          <a:lstStyle/>
          <a:p>
            <a:pPr marL="0" indent="0" algn="l">
              <a:lnSpc>
                <a:spcPts val="5100"/>
              </a:lnSpc>
              <a:buNone/>
            </a:pPr>
            <a:r>
              <a:rPr lang="en-US" sz="4100" b="1" dirty="0">
                <a:solidFill>
                  <a:srgbClr val="333F70"/>
                </a:solidFill>
                <a:latin typeface="Amasis MT Pro" panose="02040504050005020304" pitchFamily="18" charset="0"/>
                <a:ea typeface="Unbounded Bold" pitchFamily="34" charset="-122"/>
                <a:cs typeface="Unbounded Bold" pitchFamily="34" charset="-120"/>
              </a:rPr>
              <a:t>Our AI-Driven Solution Architecture</a:t>
            </a:r>
            <a:endParaRPr lang="en-US" sz="4100" dirty="0">
              <a:latin typeface="Amasis MT Pro" panose="02040504050005020304" pitchFamily="18" charset="0"/>
            </a:endParaRPr>
          </a:p>
        </p:txBody>
      </p:sp>
      <p:sp>
        <p:nvSpPr>
          <p:cNvPr id="3" name="Text 1"/>
          <p:cNvSpPr/>
          <p:nvPr/>
        </p:nvSpPr>
        <p:spPr>
          <a:xfrm>
            <a:off x="731163" y="1894999"/>
            <a:ext cx="13168074" cy="668655"/>
          </a:xfrm>
          <a:prstGeom prst="rect">
            <a:avLst/>
          </a:prstGeom>
          <a:noFill/>
          <a:ln/>
        </p:spPr>
        <p:txBody>
          <a:bodyPr wrap="square" lIns="0" tIns="0" rIns="0" bIns="0" rtlCol="0" anchor="t"/>
          <a:lstStyle/>
          <a:p>
            <a:pPr marL="0" indent="0" algn="l">
              <a:lnSpc>
                <a:spcPts val="2600"/>
              </a:lnSpc>
              <a:buNone/>
            </a:pPr>
            <a:r>
              <a:rPr lang="en-US" sz="1600" dirty="0">
                <a:solidFill>
                  <a:srgbClr val="333F70"/>
                </a:solidFill>
                <a:latin typeface="Amasis MT Pro" panose="02040504050005020304" pitchFamily="18" charset="0"/>
                <a:ea typeface="Open Sans" pitchFamily="34" charset="-122"/>
                <a:cs typeface="Open Sans" pitchFamily="34" charset="-120"/>
              </a:rPr>
              <a:t>We've built a comprehensive system that leverages advanced AI to transform invoice processing from a manual burden into an automated insight engine.</a:t>
            </a:r>
            <a:endParaRPr lang="en-US" sz="1600" dirty="0">
              <a:latin typeface="Amasis MT Pro" panose="02040504050005020304" pitchFamily="18" charset="0"/>
            </a:endParaRPr>
          </a:p>
        </p:txBody>
      </p:sp>
      <p:pic>
        <p:nvPicPr>
          <p:cNvPr id="4" name="Image 0" descr="preencoded.png"/>
          <p:cNvPicPr>
            <a:picLocks noChangeAspect="1"/>
          </p:cNvPicPr>
          <p:nvPr/>
        </p:nvPicPr>
        <p:blipFill>
          <a:blip r:embed="rId3"/>
          <a:stretch>
            <a:fillRect/>
          </a:stretch>
        </p:blipFill>
        <p:spPr>
          <a:xfrm>
            <a:off x="731163" y="2798564"/>
            <a:ext cx="4389358" cy="835581"/>
          </a:xfrm>
          <a:prstGeom prst="rect">
            <a:avLst/>
          </a:prstGeom>
        </p:spPr>
      </p:pic>
      <p:sp>
        <p:nvSpPr>
          <p:cNvPr id="5" name="Text 2"/>
          <p:cNvSpPr/>
          <p:nvPr/>
        </p:nvSpPr>
        <p:spPr>
          <a:xfrm>
            <a:off x="939998" y="3842980"/>
            <a:ext cx="3280648" cy="326350"/>
          </a:xfrm>
          <a:prstGeom prst="rect">
            <a:avLst/>
          </a:prstGeom>
          <a:noFill/>
          <a:ln/>
        </p:spPr>
        <p:txBody>
          <a:bodyPr wrap="none" lIns="0" tIns="0" rIns="0" bIns="0" rtlCol="0" anchor="t"/>
          <a:lstStyle/>
          <a:p>
            <a:pPr marL="0" indent="0" algn="l">
              <a:lnSpc>
                <a:spcPts val="2550"/>
              </a:lnSpc>
              <a:buNone/>
            </a:pPr>
            <a:r>
              <a:rPr lang="en-US" sz="2050" b="1" dirty="0">
                <a:solidFill>
                  <a:srgbClr val="333F70"/>
                </a:solidFill>
                <a:latin typeface="Amasis MT Pro" panose="02040504050005020304" pitchFamily="18" charset="0"/>
                <a:ea typeface="Unbounded Bold" pitchFamily="34" charset="-122"/>
                <a:cs typeface="Unbounded Bold" pitchFamily="34" charset="-120"/>
              </a:rPr>
              <a:t>Document AI Engine</a:t>
            </a:r>
            <a:endParaRPr lang="en-US" sz="2050" dirty="0">
              <a:latin typeface="Amasis MT Pro" panose="02040504050005020304" pitchFamily="18" charset="0"/>
            </a:endParaRPr>
          </a:p>
        </p:txBody>
      </p:sp>
      <p:sp>
        <p:nvSpPr>
          <p:cNvPr id="6" name="Text 3"/>
          <p:cNvSpPr/>
          <p:nvPr/>
        </p:nvSpPr>
        <p:spPr>
          <a:xfrm>
            <a:off x="939998" y="4294584"/>
            <a:ext cx="3971687" cy="1671638"/>
          </a:xfrm>
          <a:prstGeom prst="rect">
            <a:avLst/>
          </a:prstGeom>
          <a:noFill/>
          <a:ln/>
        </p:spPr>
        <p:txBody>
          <a:bodyPr wrap="square" lIns="0" tIns="0" rIns="0" bIns="0" rtlCol="0" anchor="t"/>
          <a:lstStyle/>
          <a:p>
            <a:pPr marL="0" indent="0" algn="l">
              <a:lnSpc>
                <a:spcPts val="2600"/>
              </a:lnSpc>
              <a:buNone/>
            </a:pPr>
            <a:r>
              <a:rPr lang="en-US" sz="1600" dirty="0">
                <a:solidFill>
                  <a:srgbClr val="333F70"/>
                </a:solidFill>
                <a:latin typeface="Amasis MT Pro" panose="02040504050005020304" pitchFamily="18" charset="0"/>
                <a:ea typeface="Open Sans" pitchFamily="34" charset="-122"/>
                <a:cs typeface="Open Sans" pitchFamily="34" charset="-120"/>
              </a:rPr>
              <a:t>Our proprietary Document AI extracts all relevant fields (amount, dates, tax, line items) from invoices regardless of language, format, or structure—even from poor-quality scans.</a:t>
            </a:r>
            <a:endParaRPr lang="en-US" sz="1600" dirty="0">
              <a:latin typeface="Amasis MT Pro" panose="02040504050005020304" pitchFamily="18" charset="0"/>
            </a:endParaRPr>
          </a:p>
        </p:txBody>
      </p:sp>
      <p:pic>
        <p:nvPicPr>
          <p:cNvPr id="7" name="Image 1" descr="preencoded.png"/>
          <p:cNvPicPr>
            <a:picLocks noChangeAspect="1"/>
          </p:cNvPicPr>
          <p:nvPr/>
        </p:nvPicPr>
        <p:blipFill>
          <a:blip r:embed="rId4"/>
          <a:stretch>
            <a:fillRect/>
          </a:stretch>
        </p:blipFill>
        <p:spPr>
          <a:xfrm>
            <a:off x="5120521" y="2798564"/>
            <a:ext cx="4389358" cy="835581"/>
          </a:xfrm>
          <a:prstGeom prst="rect">
            <a:avLst/>
          </a:prstGeom>
        </p:spPr>
      </p:pic>
      <p:sp>
        <p:nvSpPr>
          <p:cNvPr id="8" name="Text 4"/>
          <p:cNvSpPr/>
          <p:nvPr/>
        </p:nvSpPr>
        <p:spPr>
          <a:xfrm>
            <a:off x="5329357" y="3842980"/>
            <a:ext cx="3971687" cy="652701"/>
          </a:xfrm>
          <a:prstGeom prst="rect">
            <a:avLst/>
          </a:prstGeom>
          <a:noFill/>
          <a:ln/>
        </p:spPr>
        <p:txBody>
          <a:bodyPr wrap="square" lIns="0" tIns="0" rIns="0" bIns="0" rtlCol="0" anchor="t"/>
          <a:lstStyle/>
          <a:p>
            <a:pPr marL="0" indent="0" algn="l">
              <a:lnSpc>
                <a:spcPts val="2550"/>
              </a:lnSpc>
              <a:buNone/>
            </a:pPr>
            <a:r>
              <a:rPr lang="en-US" sz="2050" b="1" dirty="0">
                <a:solidFill>
                  <a:srgbClr val="333F70"/>
                </a:solidFill>
                <a:latin typeface="Amasis MT Pro" panose="02040504050005020304" pitchFamily="18" charset="0"/>
                <a:ea typeface="Unbounded Bold" pitchFamily="34" charset="-122"/>
                <a:cs typeface="Unbounded Bold" pitchFamily="34" charset="-120"/>
              </a:rPr>
              <a:t>Multi-Currency Normalization</a:t>
            </a:r>
            <a:endParaRPr lang="en-US" sz="2050" dirty="0">
              <a:latin typeface="Amasis MT Pro" panose="02040504050005020304" pitchFamily="18" charset="0"/>
            </a:endParaRPr>
          </a:p>
        </p:txBody>
      </p:sp>
      <p:sp>
        <p:nvSpPr>
          <p:cNvPr id="9" name="Text 5"/>
          <p:cNvSpPr/>
          <p:nvPr/>
        </p:nvSpPr>
        <p:spPr>
          <a:xfrm>
            <a:off x="5329357" y="4620935"/>
            <a:ext cx="3971687" cy="1671638"/>
          </a:xfrm>
          <a:prstGeom prst="rect">
            <a:avLst/>
          </a:prstGeom>
          <a:noFill/>
          <a:ln/>
        </p:spPr>
        <p:txBody>
          <a:bodyPr wrap="square" lIns="0" tIns="0" rIns="0" bIns="0" rtlCol="0" anchor="t"/>
          <a:lstStyle/>
          <a:p>
            <a:pPr marL="0" indent="0" algn="l">
              <a:lnSpc>
                <a:spcPts val="2600"/>
              </a:lnSpc>
              <a:buNone/>
            </a:pPr>
            <a:r>
              <a:rPr lang="en-US" sz="1600" dirty="0">
                <a:solidFill>
                  <a:srgbClr val="333F70"/>
                </a:solidFill>
                <a:latin typeface="Amasis MT Pro" panose="02040504050005020304" pitchFamily="18" charset="0"/>
                <a:ea typeface="Open Sans" pitchFamily="34" charset="-122"/>
                <a:cs typeface="Open Sans" pitchFamily="34" charset="-120"/>
              </a:rPr>
              <a:t>Advanced currency detection and conversion automatically standardizes all monetary values to a single reporting currency (typically USD) for consistent analytics.</a:t>
            </a:r>
            <a:endParaRPr lang="en-US" sz="1600" dirty="0">
              <a:latin typeface="Amasis MT Pro" panose="02040504050005020304" pitchFamily="18" charset="0"/>
            </a:endParaRPr>
          </a:p>
        </p:txBody>
      </p:sp>
      <p:pic>
        <p:nvPicPr>
          <p:cNvPr id="10" name="Image 2" descr="preencoded.png"/>
          <p:cNvPicPr>
            <a:picLocks noChangeAspect="1"/>
          </p:cNvPicPr>
          <p:nvPr/>
        </p:nvPicPr>
        <p:blipFill>
          <a:blip r:embed="rId5"/>
          <a:stretch>
            <a:fillRect/>
          </a:stretch>
        </p:blipFill>
        <p:spPr>
          <a:xfrm>
            <a:off x="9509879" y="2798564"/>
            <a:ext cx="4389358" cy="835581"/>
          </a:xfrm>
          <a:prstGeom prst="rect">
            <a:avLst/>
          </a:prstGeom>
        </p:spPr>
      </p:pic>
      <p:sp>
        <p:nvSpPr>
          <p:cNvPr id="11" name="Text 6"/>
          <p:cNvSpPr/>
          <p:nvPr/>
        </p:nvSpPr>
        <p:spPr>
          <a:xfrm>
            <a:off x="9718715" y="3842980"/>
            <a:ext cx="3971687" cy="652701"/>
          </a:xfrm>
          <a:prstGeom prst="rect">
            <a:avLst/>
          </a:prstGeom>
          <a:noFill/>
          <a:ln/>
        </p:spPr>
        <p:txBody>
          <a:bodyPr wrap="square" lIns="0" tIns="0" rIns="0" bIns="0" rtlCol="0" anchor="t"/>
          <a:lstStyle/>
          <a:p>
            <a:pPr marL="0" indent="0" algn="l">
              <a:lnSpc>
                <a:spcPts val="2550"/>
              </a:lnSpc>
              <a:buNone/>
            </a:pPr>
            <a:r>
              <a:rPr lang="en-US" sz="2050" b="1" dirty="0">
                <a:solidFill>
                  <a:srgbClr val="333F70"/>
                </a:solidFill>
                <a:latin typeface="Amasis MT Pro" panose="02040504050005020304" pitchFamily="18" charset="0"/>
                <a:ea typeface="Unbounded Bold" pitchFamily="34" charset="-122"/>
                <a:cs typeface="Unbounded Bold" pitchFamily="34" charset="-120"/>
              </a:rPr>
              <a:t>Interactive KPI Dashboard</a:t>
            </a:r>
            <a:endParaRPr lang="en-US" sz="2050" dirty="0">
              <a:latin typeface="Amasis MT Pro" panose="02040504050005020304" pitchFamily="18" charset="0"/>
            </a:endParaRPr>
          </a:p>
        </p:txBody>
      </p:sp>
      <p:sp>
        <p:nvSpPr>
          <p:cNvPr id="12" name="Text 7"/>
          <p:cNvSpPr/>
          <p:nvPr/>
        </p:nvSpPr>
        <p:spPr>
          <a:xfrm>
            <a:off x="9718715" y="4620935"/>
            <a:ext cx="3971687" cy="1671638"/>
          </a:xfrm>
          <a:prstGeom prst="rect">
            <a:avLst/>
          </a:prstGeom>
          <a:noFill/>
          <a:ln/>
        </p:spPr>
        <p:txBody>
          <a:bodyPr wrap="square" lIns="0" tIns="0" rIns="0" bIns="0" rtlCol="0" anchor="t"/>
          <a:lstStyle/>
          <a:p>
            <a:pPr marL="0" indent="0" algn="l">
              <a:lnSpc>
                <a:spcPts val="2600"/>
              </a:lnSpc>
              <a:buNone/>
            </a:pPr>
            <a:r>
              <a:rPr lang="en-US" sz="1600" dirty="0">
                <a:solidFill>
                  <a:srgbClr val="333F70"/>
                </a:solidFill>
                <a:latin typeface="Amasis MT Pro" panose="02040504050005020304" pitchFamily="18" charset="0"/>
                <a:ea typeface="Open Sans" pitchFamily="34" charset="-122"/>
                <a:cs typeface="Open Sans" pitchFamily="34" charset="-120"/>
              </a:rPr>
              <a:t>Real-time visualization of key metrics, spend trends, payment status, and compliance insights through customizable dashboards accessible across devices.</a:t>
            </a:r>
            <a:endParaRPr lang="en-US" sz="1600" dirty="0">
              <a:latin typeface="Amasis MT Pro" panose="02040504050005020304" pitchFamily="18" charset="0"/>
            </a:endParaRPr>
          </a:p>
        </p:txBody>
      </p:sp>
      <p:sp>
        <p:nvSpPr>
          <p:cNvPr id="13" name="Text 8"/>
          <p:cNvSpPr/>
          <p:nvPr/>
        </p:nvSpPr>
        <p:spPr>
          <a:xfrm>
            <a:off x="731163" y="6736318"/>
            <a:ext cx="13168074" cy="668655"/>
          </a:xfrm>
          <a:prstGeom prst="rect">
            <a:avLst/>
          </a:prstGeom>
          <a:noFill/>
          <a:ln/>
        </p:spPr>
        <p:txBody>
          <a:bodyPr wrap="square" lIns="0" tIns="0" rIns="0" bIns="0" rtlCol="0" anchor="t"/>
          <a:lstStyle/>
          <a:p>
            <a:pPr marL="0" indent="0" algn="l">
              <a:lnSpc>
                <a:spcPts val="2600"/>
              </a:lnSpc>
              <a:buNone/>
            </a:pPr>
            <a:r>
              <a:rPr lang="en-US" sz="1600" dirty="0">
                <a:solidFill>
                  <a:srgbClr val="333F70"/>
                </a:solidFill>
                <a:latin typeface="Amasis MT Pro" panose="02040504050005020304" pitchFamily="18" charset="0"/>
                <a:ea typeface="Open Sans" pitchFamily="34" charset="-122"/>
                <a:cs typeface="Open Sans" pitchFamily="34" charset="-120"/>
              </a:rPr>
              <a:t>The system includes intelligent quality control that flags exceptions requiring human review while continuously learning from corrections to improve future accuracy. The architecture is built for seamless integration with existing ERPs and financial systems.</a:t>
            </a:r>
            <a:endParaRPr lang="en-US" sz="1600" dirty="0">
              <a:latin typeface="Amasis MT Pro" panose="02040504050005020304" pitchFamily="18" charset="0"/>
            </a:endParaRPr>
          </a:p>
        </p:txBody>
      </p:sp>
      <p:pic>
        <p:nvPicPr>
          <p:cNvPr id="14" name="Picture 13">
            <a:extLst>
              <a:ext uri="{FF2B5EF4-FFF2-40B4-BE49-F238E27FC236}">
                <a16:creationId xmlns:a16="http://schemas.microsoft.com/office/drawing/2014/main" id="{26D17D29-DE6B-B433-64EF-9F7027F721B5}"/>
              </a:ext>
            </a:extLst>
          </p:cNvPr>
          <p:cNvPicPr>
            <a:picLocks noChangeAspect="1"/>
          </p:cNvPicPr>
          <p:nvPr/>
        </p:nvPicPr>
        <p:blipFill>
          <a:blip r:embed="rId6"/>
          <a:stretch>
            <a:fillRect/>
          </a:stretch>
        </p:blipFill>
        <p:spPr>
          <a:xfrm>
            <a:off x="11804292" y="7388243"/>
            <a:ext cx="1959095" cy="65931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05C68-F97D-1081-3CB1-7E40D80C6B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94FE119-B4EE-AEBF-A27D-26FDBE1964A9}"/>
              </a:ext>
            </a:extLst>
          </p:cNvPr>
          <p:cNvSpPr/>
          <p:nvPr/>
        </p:nvSpPr>
        <p:spPr>
          <a:xfrm>
            <a:off x="731163" y="824508"/>
            <a:ext cx="11463576" cy="652701"/>
          </a:xfrm>
          <a:prstGeom prst="rect">
            <a:avLst/>
          </a:prstGeom>
          <a:noFill/>
          <a:ln/>
        </p:spPr>
        <p:txBody>
          <a:bodyPr wrap="none" lIns="0" tIns="0" rIns="0" bIns="0" rtlCol="0" anchor="t"/>
          <a:lstStyle/>
          <a:p>
            <a:r>
              <a:rPr lang="en-US" sz="4100" b="1" dirty="0">
                <a:solidFill>
                  <a:srgbClr val="333F70"/>
                </a:solidFill>
                <a:latin typeface="Amasis MT Pro" panose="02040504050005020304" pitchFamily="18" charset="0"/>
                <a:ea typeface="Unbounded Bold" pitchFamily="34" charset="-122"/>
              </a:rPr>
              <a:t>Technical Capabilities &amp; Innovations</a:t>
            </a:r>
          </a:p>
        </p:txBody>
      </p:sp>
      <p:pic>
        <p:nvPicPr>
          <p:cNvPr id="14" name="Picture 13">
            <a:extLst>
              <a:ext uri="{FF2B5EF4-FFF2-40B4-BE49-F238E27FC236}">
                <a16:creationId xmlns:a16="http://schemas.microsoft.com/office/drawing/2014/main" id="{066EC508-A5C2-06EF-DC5E-AB65792D60CB}"/>
              </a:ext>
            </a:extLst>
          </p:cNvPr>
          <p:cNvPicPr>
            <a:picLocks noChangeAspect="1"/>
          </p:cNvPicPr>
          <p:nvPr/>
        </p:nvPicPr>
        <p:blipFill>
          <a:blip r:embed="rId3"/>
          <a:stretch>
            <a:fillRect/>
          </a:stretch>
        </p:blipFill>
        <p:spPr>
          <a:xfrm>
            <a:off x="11804292" y="7388243"/>
            <a:ext cx="1959095" cy="659311"/>
          </a:xfrm>
          <a:prstGeom prst="rect">
            <a:avLst/>
          </a:prstGeom>
        </p:spPr>
      </p:pic>
      <p:pic>
        <p:nvPicPr>
          <p:cNvPr id="16" name="Picture 15">
            <a:extLst>
              <a:ext uri="{FF2B5EF4-FFF2-40B4-BE49-F238E27FC236}">
                <a16:creationId xmlns:a16="http://schemas.microsoft.com/office/drawing/2014/main" id="{962E84B8-BE7A-BBCE-6C2F-E6C625825698}"/>
              </a:ext>
            </a:extLst>
          </p:cNvPr>
          <p:cNvPicPr>
            <a:picLocks noChangeAspect="1"/>
          </p:cNvPicPr>
          <p:nvPr/>
        </p:nvPicPr>
        <p:blipFill>
          <a:blip r:embed="rId4"/>
          <a:stretch>
            <a:fillRect/>
          </a:stretch>
        </p:blipFill>
        <p:spPr>
          <a:xfrm>
            <a:off x="1152332" y="1622109"/>
            <a:ext cx="11687368" cy="5366534"/>
          </a:xfrm>
          <a:prstGeom prst="rect">
            <a:avLst/>
          </a:prstGeom>
        </p:spPr>
      </p:pic>
    </p:spTree>
    <p:extLst>
      <p:ext uri="{BB962C8B-B14F-4D97-AF65-F5344CB8AC3E}">
        <p14:creationId xmlns:p14="http://schemas.microsoft.com/office/powerpoint/2010/main" val="3591082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47474" y="621506"/>
            <a:ext cx="9779079" cy="667464"/>
          </a:xfrm>
          <a:prstGeom prst="rect">
            <a:avLst/>
          </a:prstGeom>
          <a:noFill/>
          <a:ln/>
        </p:spPr>
        <p:txBody>
          <a:bodyPr wrap="none" lIns="0" tIns="0" rIns="0" bIns="0" rtlCol="0" anchor="t"/>
          <a:lstStyle/>
          <a:p>
            <a:pPr marL="0" indent="0" algn="l">
              <a:lnSpc>
                <a:spcPts val="5250"/>
              </a:lnSpc>
              <a:buNone/>
            </a:pPr>
            <a:r>
              <a:rPr lang="en-US" sz="4200" b="1" dirty="0">
                <a:solidFill>
                  <a:srgbClr val="333F70"/>
                </a:solidFill>
                <a:latin typeface="Amasis MT Pro" panose="02040504050005020304" pitchFamily="18" charset="0"/>
                <a:ea typeface="Unbounded Bold" pitchFamily="34" charset="-122"/>
                <a:cs typeface="Unbounded Bold" pitchFamily="34" charset="-120"/>
              </a:rPr>
              <a:t>Architecture</a:t>
            </a:r>
            <a:endParaRPr lang="en-US" sz="4200" dirty="0">
              <a:latin typeface="Amasis MT Pro" panose="02040504050005020304" pitchFamily="18" charset="0"/>
            </a:endParaRPr>
          </a:p>
        </p:txBody>
      </p:sp>
      <p:sp>
        <p:nvSpPr>
          <p:cNvPr id="16" name="Shape 13"/>
          <p:cNvSpPr/>
          <p:nvPr/>
        </p:nvSpPr>
        <p:spPr>
          <a:xfrm>
            <a:off x="747474" y="5862042"/>
            <a:ext cx="30480" cy="1745933"/>
          </a:xfrm>
          <a:prstGeom prst="rect">
            <a:avLst/>
          </a:prstGeom>
          <a:solidFill>
            <a:srgbClr val="26A688"/>
          </a:solidFill>
          <a:ln/>
        </p:spPr>
        <p:txBody>
          <a:bodyPr/>
          <a:lstStyle/>
          <a:p>
            <a:endParaRPr lang="en-US">
              <a:latin typeface="Amasis MT Pro" panose="02040504050005020304" pitchFamily="18" charset="0"/>
            </a:endParaRPr>
          </a:p>
        </p:txBody>
      </p:sp>
      <p:pic>
        <p:nvPicPr>
          <p:cNvPr id="17" name="Picture 16">
            <a:extLst>
              <a:ext uri="{FF2B5EF4-FFF2-40B4-BE49-F238E27FC236}">
                <a16:creationId xmlns:a16="http://schemas.microsoft.com/office/drawing/2014/main" id="{8EFEFCAA-3CEF-1B89-7056-60F424C68E19}"/>
              </a:ext>
            </a:extLst>
          </p:cNvPr>
          <p:cNvPicPr>
            <a:picLocks noChangeAspect="1"/>
          </p:cNvPicPr>
          <p:nvPr/>
        </p:nvPicPr>
        <p:blipFill>
          <a:blip r:embed="rId3"/>
          <a:stretch>
            <a:fillRect/>
          </a:stretch>
        </p:blipFill>
        <p:spPr>
          <a:xfrm>
            <a:off x="11804292" y="7388243"/>
            <a:ext cx="1959095" cy="659311"/>
          </a:xfrm>
          <a:prstGeom prst="rect">
            <a:avLst/>
          </a:prstGeom>
        </p:spPr>
      </p:pic>
      <p:pic>
        <p:nvPicPr>
          <p:cNvPr id="4" name="Picture 3">
            <a:extLst>
              <a:ext uri="{FF2B5EF4-FFF2-40B4-BE49-F238E27FC236}">
                <a16:creationId xmlns:a16="http://schemas.microsoft.com/office/drawing/2014/main" id="{8680A2B7-B360-2763-DA9A-AF427168C926}"/>
              </a:ext>
            </a:extLst>
          </p:cNvPr>
          <p:cNvPicPr>
            <a:picLocks noChangeAspect="1"/>
          </p:cNvPicPr>
          <p:nvPr/>
        </p:nvPicPr>
        <p:blipFill>
          <a:blip r:embed="rId4"/>
          <a:stretch>
            <a:fillRect/>
          </a:stretch>
        </p:blipFill>
        <p:spPr>
          <a:xfrm>
            <a:off x="2711213" y="1501640"/>
            <a:ext cx="9207973" cy="522631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12779-E8EC-6B61-41C6-86859A5C678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C23E63C-69DC-2B4C-2A17-0F4EDEB9ADC7}"/>
              </a:ext>
            </a:extLst>
          </p:cNvPr>
          <p:cNvSpPr/>
          <p:nvPr/>
        </p:nvSpPr>
        <p:spPr>
          <a:xfrm>
            <a:off x="747474" y="621506"/>
            <a:ext cx="9779079" cy="667464"/>
          </a:xfrm>
          <a:prstGeom prst="rect">
            <a:avLst/>
          </a:prstGeom>
          <a:noFill/>
          <a:ln/>
        </p:spPr>
        <p:txBody>
          <a:bodyPr wrap="none" lIns="0" tIns="0" rIns="0" bIns="0" rtlCol="0" anchor="t"/>
          <a:lstStyle/>
          <a:p>
            <a:pPr marL="0" indent="0" algn="l">
              <a:lnSpc>
                <a:spcPts val="5250"/>
              </a:lnSpc>
              <a:buNone/>
            </a:pPr>
            <a:r>
              <a:rPr lang="en-US" sz="4200" b="1" dirty="0">
                <a:solidFill>
                  <a:srgbClr val="333F70"/>
                </a:solidFill>
                <a:latin typeface="Amasis MT Pro" panose="02040504050005020304" pitchFamily="18" charset="0"/>
                <a:ea typeface="Unbounded Bold" pitchFamily="34" charset="-122"/>
                <a:cs typeface="Unbounded Bold" pitchFamily="34" charset="-120"/>
              </a:rPr>
              <a:t>Measurable Business Impact</a:t>
            </a:r>
            <a:endParaRPr lang="en-US" sz="4200" dirty="0">
              <a:latin typeface="Amasis MT Pro" panose="02040504050005020304" pitchFamily="18" charset="0"/>
            </a:endParaRPr>
          </a:p>
        </p:txBody>
      </p:sp>
      <p:sp>
        <p:nvSpPr>
          <p:cNvPr id="9" name="Text 6">
            <a:extLst>
              <a:ext uri="{FF2B5EF4-FFF2-40B4-BE49-F238E27FC236}">
                <a16:creationId xmlns:a16="http://schemas.microsoft.com/office/drawing/2014/main" id="{863BE48E-1BB1-C803-B6C6-4E2B7BBA9742}"/>
              </a:ext>
            </a:extLst>
          </p:cNvPr>
          <p:cNvSpPr/>
          <p:nvPr/>
        </p:nvSpPr>
        <p:spPr>
          <a:xfrm>
            <a:off x="6619954" y="2024006"/>
            <a:ext cx="6307217" cy="341709"/>
          </a:xfrm>
          <a:prstGeom prst="rect">
            <a:avLst/>
          </a:prstGeom>
          <a:noFill/>
          <a:ln/>
        </p:spPr>
        <p:txBody>
          <a:bodyPr wrap="none" lIns="0" tIns="0" rIns="0" bIns="0" rtlCol="0" anchor="t"/>
          <a:lstStyle/>
          <a:p>
            <a:pPr marL="342900" indent="-342900" algn="l">
              <a:lnSpc>
                <a:spcPts val="2650"/>
              </a:lnSpc>
              <a:buSzPct val="100000"/>
              <a:buChar char="•"/>
            </a:pPr>
            <a:r>
              <a:rPr lang="en-US" sz="2200" b="1" dirty="0">
                <a:solidFill>
                  <a:srgbClr val="333F70"/>
                </a:solidFill>
                <a:latin typeface="Amasis MT Pro" panose="02040504050005020304" pitchFamily="18" charset="0"/>
                <a:ea typeface="Open Sans" pitchFamily="34" charset="-122"/>
                <a:cs typeface="Open Sans" pitchFamily="34" charset="-120"/>
              </a:rPr>
              <a:t>Reduction</a:t>
            </a:r>
            <a:r>
              <a:rPr lang="en-US" sz="2200" dirty="0">
                <a:solidFill>
                  <a:srgbClr val="333F70"/>
                </a:solidFill>
                <a:latin typeface="Amasis MT Pro" panose="02040504050005020304" pitchFamily="18" charset="0"/>
                <a:ea typeface="Open Sans" pitchFamily="34" charset="-122"/>
                <a:cs typeface="Open Sans" pitchFamily="34" charset="-120"/>
              </a:rPr>
              <a:t> in processing time (~90% reduction in minutes</a:t>
            </a:r>
          </a:p>
          <a:p>
            <a:pPr algn="l">
              <a:lnSpc>
                <a:spcPts val="2650"/>
              </a:lnSpc>
              <a:buSzPct val="100000"/>
            </a:pPr>
            <a:r>
              <a:rPr lang="en-US" sz="2200" dirty="0">
                <a:solidFill>
                  <a:srgbClr val="333F70"/>
                </a:solidFill>
                <a:latin typeface="Amasis MT Pro" panose="02040504050005020304" pitchFamily="18" charset="0"/>
                <a:ea typeface="Open Sans" pitchFamily="34" charset="-122"/>
                <a:cs typeface="Open Sans" pitchFamily="34" charset="-120"/>
              </a:rPr>
              <a:t>     per invoice)</a:t>
            </a:r>
            <a:endParaRPr lang="en-US" sz="2200" dirty="0">
              <a:latin typeface="Amasis MT Pro" panose="02040504050005020304" pitchFamily="18" charset="0"/>
            </a:endParaRPr>
          </a:p>
        </p:txBody>
      </p:sp>
      <p:sp>
        <p:nvSpPr>
          <p:cNvPr id="10" name="Text 7">
            <a:extLst>
              <a:ext uri="{FF2B5EF4-FFF2-40B4-BE49-F238E27FC236}">
                <a16:creationId xmlns:a16="http://schemas.microsoft.com/office/drawing/2014/main" id="{6F49E4E7-9E74-C356-760D-C9124A01E4C2}"/>
              </a:ext>
            </a:extLst>
          </p:cNvPr>
          <p:cNvSpPr/>
          <p:nvPr/>
        </p:nvSpPr>
        <p:spPr>
          <a:xfrm>
            <a:off x="6619954" y="2774310"/>
            <a:ext cx="6307217" cy="341709"/>
          </a:xfrm>
          <a:prstGeom prst="rect">
            <a:avLst/>
          </a:prstGeom>
          <a:noFill/>
          <a:ln/>
        </p:spPr>
        <p:txBody>
          <a:bodyPr wrap="none" lIns="0" tIns="0" rIns="0" bIns="0" rtlCol="0" anchor="t"/>
          <a:lstStyle/>
          <a:p>
            <a:pPr marL="342900" indent="-342900" algn="l">
              <a:lnSpc>
                <a:spcPts val="2650"/>
              </a:lnSpc>
              <a:buSzPct val="100000"/>
              <a:buChar char="•"/>
            </a:pPr>
            <a:r>
              <a:rPr lang="en-US" sz="2200" b="1" dirty="0">
                <a:solidFill>
                  <a:srgbClr val="333F70"/>
                </a:solidFill>
                <a:latin typeface="Amasis MT Pro" panose="02040504050005020304" pitchFamily="18" charset="0"/>
                <a:ea typeface="Open Sans" pitchFamily="34" charset="-122"/>
                <a:cs typeface="Open Sans" pitchFamily="34" charset="-120"/>
              </a:rPr>
              <a:t>Decrease</a:t>
            </a:r>
            <a:r>
              <a:rPr lang="en-US" sz="2200" dirty="0">
                <a:solidFill>
                  <a:srgbClr val="333F70"/>
                </a:solidFill>
                <a:latin typeface="Amasis MT Pro" panose="02040504050005020304" pitchFamily="18" charset="0"/>
                <a:ea typeface="Open Sans" pitchFamily="34" charset="-122"/>
                <a:cs typeface="Open Sans" pitchFamily="34" charset="-120"/>
              </a:rPr>
              <a:t> in data entry errors (~80% decrease )</a:t>
            </a:r>
            <a:endParaRPr lang="en-US" sz="2200" dirty="0">
              <a:latin typeface="Amasis MT Pro" panose="02040504050005020304" pitchFamily="18" charset="0"/>
            </a:endParaRPr>
          </a:p>
        </p:txBody>
      </p:sp>
      <p:sp>
        <p:nvSpPr>
          <p:cNvPr id="11" name="Text 8">
            <a:extLst>
              <a:ext uri="{FF2B5EF4-FFF2-40B4-BE49-F238E27FC236}">
                <a16:creationId xmlns:a16="http://schemas.microsoft.com/office/drawing/2014/main" id="{737A4B01-D2E5-06A7-486B-16A9E182BA5F}"/>
              </a:ext>
            </a:extLst>
          </p:cNvPr>
          <p:cNvSpPr/>
          <p:nvPr/>
        </p:nvSpPr>
        <p:spPr>
          <a:xfrm>
            <a:off x="6619953" y="3328217"/>
            <a:ext cx="6307217" cy="341709"/>
          </a:xfrm>
          <a:prstGeom prst="rect">
            <a:avLst/>
          </a:prstGeom>
          <a:noFill/>
          <a:ln/>
        </p:spPr>
        <p:txBody>
          <a:bodyPr wrap="none" lIns="0" tIns="0" rIns="0" bIns="0" rtlCol="0" anchor="t"/>
          <a:lstStyle/>
          <a:p>
            <a:pPr marL="342900" indent="-342900" algn="l">
              <a:lnSpc>
                <a:spcPts val="2650"/>
              </a:lnSpc>
              <a:buSzPct val="100000"/>
              <a:buChar char="•"/>
            </a:pPr>
            <a:r>
              <a:rPr lang="en-US" sz="2200" b="1" dirty="0">
                <a:solidFill>
                  <a:srgbClr val="333F70"/>
                </a:solidFill>
                <a:latin typeface="Amasis MT Pro" panose="02040504050005020304" pitchFamily="18" charset="0"/>
                <a:ea typeface="Open Sans" pitchFamily="34" charset="-122"/>
                <a:cs typeface="Open Sans" pitchFamily="34" charset="-120"/>
              </a:rPr>
              <a:t>Fewer</a:t>
            </a:r>
            <a:r>
              <a:rPr lang="en-US" sz="2200" dirty="0">
                <a:solidFill>
                  <a:srgbClr val="333F70"/>
                </a:solidFill>
                <a:latin typeface="Amasis MT Pro" panose="02040504050005020304" pitchFamily="18" charset="0"/>
                <a:ea typeface="Open Sans" pitchFamily="34" charset="-122"/>
                <a:cs typeface="Open Sans" pitchFamily="34" charset="-120"/>
              </a:rPr>
              <a:t> late payment incidents (~80% of total)</a:t>
            </a:r>
            <a:endParaRPr lang="en-US" sz="2200" dirty="0">
              <a:latin typeface="Amasis MT Pro" panose="02040504050005020304" pitchFamily="18" charset="0"/>
            </a:endParaRPr>
          </a:p>
        </p:txBody>
      </p:sp>
      <p:sp>
        <p:nvSpPr>
          <p:cNvPr id="12" name="Text 9">
            <a:extLst>
              <a:ext uri="{FF2B5EF4-FFF2-40B4-BE49-F238E27FC236}">
                <a16:creationId xmlns:a16="http://schemas.microsoft.com/office/drawing/2014/main" id="{9B1559F6-FFA4-76C9-12B4-4E98D3180CBF}"/>
              </a:ext>
            </a:extLst>
          </p:cNvPr>
          <p:cNvSpPr/>
          <p:nvPr/>
        </p:nvSpPr>
        <p:spPr>
          <a:xfrm>
            <a:off x="6619954" y="3851055"/>
            <a:ext cx="6307217" cy="341709"/>
          </a:xfrm>
          <a:prstGeom prst="rect">
            <a:avLst/>
          </a:prstGeom>
          <a:noFill/>
          <a:ln/>
        </p:spPr>
        <p:txBody>
          <a:bodyPr wrap="none" lIns="0" tIns="0" rIns="0" bIns="0" rtlCol="0" anchor="t"/>
          <a:lstStyle/>
          <a:p>
            <a:pPr marL="342900" indent="-342900" algn="l">
              <a:lnSpc>
                <a:spcPts val="2650"/>
              </a:lnSpc>
              <a:buSzPct val="100000"/>
              <a:buChar char="•"/>
            </a:pPr>
            <a:r>
              <a:rPr lang="en-US" sz="2200" b="1" dirty="0">
                <a:solidFill>
                  <a:srgbClr val="333F70"/>
                </a:solidFill>
                <a:latin typeface="Amasis MT Pro" panose="02040504050005020304" pitchFamily="18" charset="0"/>
                <a:ea typeface="Open Sans" pitchFamily="34" charset="-122"/>
                <a:cs typeface="Open Sans" pitchFamily="34" charset="-120"/>
              </a:rPr>
              <a:t>Faster</a:t>
            </a:r>
            <a:r>
              <a:rPr lang="en-US" sz="2200" dirty="0">
                <a:solidFill>
                  <a:srgbClr val="333F70"/>
                </a:solidFill>
                <a:latin typeface="Amasis MT Pro" panose="02040504050005020304" pitchFamily="18" charset="0"/>
                <a:ea typeface="Open Sans" pitchFamily="34" charset="-122"/>
                <a:cs typeface="Open Sans" pitchFamily="34" charset="-120"/>
              </a:rPr>
              <a:t> financial reporting (~99 % faster hours to generate)</a:t>
            </a:r>
          </a:p>
          <a:p>
            <a:pPr marL="342900" indent="-342900" algn="l">
              <a:lnSpc>
                <a:spcPts val="2650"/>
              </a:lnSpc>
              <a:buSzPct val="100000"/>
              <a:buChar char="•"/>
            </a:pPr>
            <a:endParaRPr lang="en-US" sz="3200" dirty="0">
              <a:solidFill>
                <a:srgbClr val="333F70"/>
              </a:solidFill>
              <a:latin typeface="Amasis MT Pro" panose="02040504050005020304" pitchFamily="18" charset="0"/>
              <a:ea typeface="Open Sans" pitchFamily="34" charset="-122"/>
              <a:cs typeface="Open Sans" pitchFamily="34" charset="-120"/>
            </a:endParaRPr>
          </a:p>
          <a:p>
            <a:pPr algn="l">
              <a:lnSpc>
                <a:spcPts val="2650"/>
              </a:lnSpc>
              <a:buSzPct val="100000"/>
            </a:pPr>
            <a:endParaRPr lang="en-US" sz="3200" dirty="0">
              <a:solidFill>
                <a:srgbClr val="333F70"/>
              </a:solidFill>
              <a:latin typeface="Amasis MT Pro" panose="02040504050005020304" pitchFamily="18" charset="0"/>
              <a:ea typeface="Open Sans" pitchFamily="34" charset="-122"/>
              <a:cs typeface="Open Sans" pitchFamily="34" charset="-120"/>
            </a:endParaRPr>
          </a:p>
          <a:p>
            <a:pPr algn="l">
              <a:lnSpc>
                <a:spcPts val="2650"/>
              </a:lnSpc>
              <a:buSzPct val="100000"/>
            </a:pPr>
            <a:endParaRPr lang="en-US" sz="3200" dirty="0">
              <a:solidFill>
                <a:srgbClr val="333F70"/>
              </a:solidFill>
              <a:latin typeface="Amasis MT Pro" panose="02040504050005020304" pitchFamily="18" charset="0"/>
              <a:ea typeface="Open Sans" pitchFamily="34" charset="-122"/>
              <a:cs typeface="Open Sans" pitchFamily="34" charset="-120"/>
            </a:endParaRPr>
          </a:p>
          <a:p>
            <a:pPr algn="l">
              <a:lnSpc>
                <a:spcPts val="2650"/>
              </a:lnSpc>
              <a:buSzPct val="100000"/>
            </a:pPr>
            <a:endParaRPr lang="en-US" sz="3200" dirty="0">
              <a:solidFill>
                <a:srgbClr val="333F70"/>
              </a:solidFill>
              <a:latin typeface="Amasis MT Pro" panose="02040504050005020304" pitchFamily="18" charset="0"/>
              <a:ea typeface="Open Sans" pitchFamily="34" charset="-122"/>
              <a:cs typeface="Open Sans" pitchFamily="34" charset="-120"/>
            </a:endParaRPr>
          </a:p>
        </p:txBody>
      </p:sp>
      <p:sp>
        <p:nvSpPr>
          <p:cNvPr id="16" name="Shape 13">
            <a:extLst>
              <a:ext uri="{FF2B5EF4-FFF2-40B4-BE49-F238E27FC236}">
                <a16:creationId xmlns:a16="http://schemas.microsoft.com/office/drawing/2014/main" id="{2E843622-38BF-1883-E613-BA8208A35804}"/>
              </a:ext>
            </a:extLst>
          </p:cNvPr>
          <p:cNvSpPr/>
          <p:nvPr/>
        </p:nvSpPr>
        <p:spPr>
          <a:xfrm>
            <a:off x="747474" y="5862042"/>
            <a:ext cx="30480" cy="1745933"/>
          </a:xfrm>
          <a:prstGeom prst="rect">
            <a:avLst/>
          </a:prstGeom>
          <a:solidFill>
            <a:srgbClr val="26A688"/>
          </a:solidFill>
          <a:ln/>
        </p:spPr>
        <p:txBody>
          <a:bodyPr/>
          <a:lstStyle/>
          <a:p>
            <a:endParaRPr lang="en-US">
              <a:latin typeface="Amasis MT Pro" panose="02040504050005020304" pitchFamily="18" charset="0"/>
            </a:endParaRPr>
          </a:p>
        </p:txBody>
      </p:sp>
      <p:pic>
        <p:nvPicPr>
          <p:cNvPr id="17" name="Picture 16">
            <a:extLst>
              <a:ext uri="{FF2B5EF4-FFF2-40B4-BE49-F238E27FC236}">
                <a16:creationId xmlns:a16="http://schemas.microsoft.com/office/drawing/2014/main" id="{0963CC09-5731-BD14-B814-EFC460366033}"/>
              </a:ext>
            </a:extLst>
          </p:cNvPr>
          <p:cNvPicPr>
            <a:picLocks noChangeAspect="1"/>
          </p:cNvPicPr>
          <p:nvPr/>
        </p:nvPicPr>
        <p:blipFill>
          <a:blip r:embed="rId3"/>
          <a:stretch>
            <a:fillRect/>
          </a:stretch>
        </p:blipFill>
        <p:spPr>
          <a:xfrm>
            <a:off x="11804292" y="7388243"/>
            <a:ext cx="1959095" cy="659311"/>
          </a:xfrm>
          <a:prstGeom prst="rect">
            <a:avLst/>
          </a:prstGeom>
        </p:spPr>
      </p:pic>
      <p:pic>
        <p:nvPicPr>
          <p:cNvPr id="4" name="Picture 3">
            <a:extLst>
              <a:ext uri="{FF2B5EF4-FFF2-40B4-BE49-F238E27FC236}">
                <a16:creationId xmlns:a16="http://schemas.microsoft.com/office/drawing/2014/main" id="{18DF62A0-2C18-F9AF-29E1-89963C7EA04C}"/>
              </a:ext>
            </a:extLst>
          </p:cNvPr>
          <p:cNvPicPr>
            <a:picLocks noChangeAspect="1"/>
          </p:cNvPicPr>
          <p:nvPr/>
        </p:nvPicPr>
        <p:blipFill>
          <a:blip r:embed="rId4"/>
          <a:stretch>
            <a:fillRect/>
          </a:stretch>
        </p:blipFill>
        <p:spPr>
          <a:xfrm>
            <a:off x="747474" y="1650522"/>
            <a:ext cx="5632625" cy="3010378"/>
          </a:xfrm>
          <a:prstGeom prst="rect">
            <a:avLst/>
          </a:prstGeom>
        </p:spPr>
      </p:pic>
      <p:sp>
        <p:nvSpPr>
          <p:cNvPr id="5" name="TextBox 4">
            <a:extLst>
              <a:ext uri="{FF2B5EF4-FFF2-40B4-BE49-F238E27FC236}">
                <a16:creationId xmlns:a16="http://schemas.microsoft.com/office/drawing/2014/main" id="{02C2748C-D195-34E9-5471-1F6D80C05A30}"/>
              </a:ext>
            </a:extLst>
          </p:cNvPr>
          <p:cNvSpPr txBox="1"/>
          <p:nvPr/>
        </p:nvSpPr>
        <p:spPr>
          <a:xfrm>
            <a:off x="1003300" y="5261877"/>
            <a:ext cx="12407900" cy="1200329"/>
          </a:xfrm>
          <a:prstGeom prst="rect">
            <a:avLst/>
          </a:prstGeom>
          <a:noFill/>
        </p:spPr>
        <p:txBody>
          <a:bodyPr wrap="square" rtlCol="0">
            <a:spAutoFit/>
          </a:bodyPr>
          <a:lstStyle/>
          <a:p>
            <a:r>
              <a:rPr lang="en-US" dirty="0">
                <a:solidFill>
                  <a:srgbClr val="333F70"/>
                </a:solidFill>
                <a:latin typeface="Amasis MT Pro" panose="02040504050005020304" pitchFamily="18" charset="0"/>
                <a:ea typeface="Open Sans" pitchFamily="34" charset="-122"/>
                <a:cs typeface="Open Sans" pitchFamily="34" charset="-120"/>
              </a:rPr>
              <a:t>** These numbers are estimated based on 200 invoices used in this proof of concept.</a:t>
            </a:r>
          </a:p>
          <a:p>
            <a:r>
              <a:rPr lang="en-US" dirty="0">
                <a:solidFill>
                  <a:srgbClr val="333F70"/>
                </a:solidFill>
                <a:latin typeface="Amasis MT Pro" panose="02040504050005020304" pitchFamily="18" charset="0"/>
                <a:ea typeface="Open Sans" pitchFamily="34" charset="-122"/>
                <a:cs typeface="Open Sans" pitchFamily="34" charset="-120"/>
              </a:rPr>
              <a:t>** Our estimate is about 30-40%  overall cost savings in the account payable operations after implementation, with typical  ROI achieved within 4-6 months.</a:t>
            </a:r>
            <a:endParaRPr lang="en-US" dirty="0">
              <a:latin typeface="Amasis MT Pro" panose="02040504050005020304" pitchFamily="18" charset="0"/>
            </a:endParaRPr>
          </a:p>
          <a:p>
            <a:endParaRPr lang="en-US" dirty="0"/>
          </a:p>
        </p:txBody>
      </p:sp>
    </p:spTree>
    <p:extLst>
      <p:ext uri="{BB962C8B-B14F-4D97-AF65-F5344CB8AC3E}">
        <p14:creationId xmlns:p14="http://schemas.microsoft.com/office/powerpoint/2010/main" val="1217702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ACEDF77A-2EB2-84D7-037B-B5009FD418DD}"/>
              </a:ext>
            </a:extLst>
          </p:cNvPr>
          <p:cNvSpPr/>
          <p:nvPr/>
        </p:nvSpPr>
        <p:spPr>
          <a:xfrm>
            <a:off x="747474" y="621506"/>
            <a:ext cx="9779079" cy="667464"/>
          </a:xfrm>
          <a:prstGeom prst="rect">
            <a:avLst/>
          </a:prstGeom>
          <a:noFill/>
          <a:ln/>
        </p:spPr>
        <p:txBody>
          <a:bodyPr wrap="none" lIns="0" tIns="0" rIns="0" bIns="0" rtlCol="0" anchor="t"/>
          <a:lstStyle/>
          <a:p>
            <a:pPr marL="0" indent="0" algn="l">
              <a:lnSpc>
                <a:spcPts val="5250"/>
              </a:lnSpc>
              <a:buNone/>
            </a:pPr>
            <a:r>
              <a:rPr lang="en-US" sz="4200" b="1" dirty="0">
                <a:solidFill>
                  <a:srgbClr val="333F70"/>
                </a:solidFill>
                <a:latin typeface="Amasis MT Pro" panose="02040504050005020304" pitchFamily="18" charset="0"/>
                <a:ea typeface="Unbounded Bold" pitchFamily="34" charset="-122"/>
                <a:cs typeface="Unbounded Bold" pitchFamily="34" charset="-120"/>
              </a:rPr>
              <a:t>Application Walkthrough (Demo)</a:t>
            </a:r>
            <a:endParaRPr lang="en-US" sz="4200" dirty="0">
              <a:latin typeface="Amasis MT Pro" panose="02040504050005020304" pitchFamily="18" charset="0"/>
            </a:endParaRPr>
          </a:p>
        </p:txBody>
      </p:sp>
      <p:pic>
        <p:nvPicPr>
          <p:cNvPr id="13" name="Online Media 12" title="Invoice_Analyst_Snowflake.mp4">
            <a:hlinkClick r:id="" action="ppaction://media"/>
            <a:extLst>
              <a:ext uri="{FF2B5EF4-FFF2-40B4-BE49-F238E27FC236}">
                <a16:creationId xmlns:a16="http://schemas.microsoft.com/office/drawing/2014/main" id="{C25749BC-D7F3-93D9-6CD1-B10C8B1FE26B}"/>
              </a:ext>
            </a:extLst>
          </p:cNvPr>
          <p:cNvPicPr>
            <a:picLocks noRot="1" noChangeAspect="1"/>
          </p:cNvPicPr>
          <p:nvPr>
            <a:videoFile r:link="rId1"/>
          </p:nvPr>
        </p:nvPicPr>
        <p:blipFill>
          <a:blip r:embed="rId3"/>
          <a:stretch>
            <a:fillRect/>
          </a:stretch>
        </p:blipFill>
        <p:spPr>
          <a:xfrm>
            <a:off x="2840935" y="1690756"/>
            <a:ext cx="8192789" cy="4608444"/>
          </a:xfrm>
          <a:prstGeom prst="rect">
            <a:avLst/>
          </a:prstGeom>
        </p:spPr>
      </p:pic>
      <p:pic>
        <p:nvPicPr>
          <p:cNvPr id="14" name="Picture 13">
            <a:extLst>
              <a:ext uri="{FF2B5EF4-FFF2-40B4-BE49-F238E27FC236}">
                <a16:creationId xmlns:a16="http://schemas.microsoft.com/office/drawing/2014/main" id="{8D644B71-3882-88A0-8499-C31465790627}"/>
              </a:ext>
            </a:extLst>
          </p:cNvPr>
          <p:cNvPicPr>
            <a:picLocks noChangeAspect="1"/>
          </p:cNvPicPr>
          <p:nvPr/>
        </p:nvPicPr>
        <p:blipFill>
          <a:blip r:embed="rId4"/>
          <a:stretch>
            <a:fillRect/>
          </a:stretch>
        </p:blipFill>
        <p:spPr>
          <a:xfrm>
            <a:off x="11804292" y="7388243"/>
            <a:ext cx="1959095" cy="659311"/>
          </a:xfrm>
          <a:prstGeom prst="rect">
            <a:avLst/>
          </a:prstGeom>
        </p:spPr>
      </p:pic>
    </p:spTree>
    <p:extLst>
      <p:ext uri="{BB962C8B-B14F-4D97-AF65-F5344CB8AC3E}">
        <p14:creationId xmlns:p14="http://schemas.microsoft.com/office/powerpoint/2010/main" val="941901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3"/>
                </p:tgtEl>
              </p:cMediaNode>
            </p:video>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70595-5FDD-3413-1255-EF4F38A0122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34130D8-4513-E5CB-CD6D-74A76A4D2807}"/>
              </a:ext>
            </a:extLst>
          </p:cNvPr>
          <p:cNvSpPr/>
          <p:nvPr/>
        </p:nvSpPr>
        <p:spPr>
          <a:xfrm>
            <a:off x="5423932" y="3608228"/>
            <a:ext cx="10431542" cy="703898"/>
          </a:xfrm>
          <a:prstGeom prst="rect">
            <a:avLst/>
          </a:prstGeom>
          <a:noFill/>
          <a:ln/>
        </p:spPr>
        <p:txBody>
          <a:bodyPr wrap="none" lIns="0" tIns="0" rIns="0" bIns="0" rtlCol="0" anchor="t"/>
          <a:lstStyle/>
          <a:p>
            <a:pPr marL="0" indent="0" algn="l">
              <a:lnSpc>
                <a:spcPts val="5500"/>
              </a:lnSpc>
              <a:buNone/>
            </a:pPr>
            <a:r>
              <a:rPr lang="en-US" sz="4400" dirty="0">
                <a:solidFill>
                  <a:srgbClr val="091C53"/>
                </a:solidFill>
                <a:latin typeface="Amasis MT Pro" panose="02040504050005020304" pitchFamily="18" charset="0"/>
                <a:ea typeface="Instrument Sans Semi Bold" pitchFamily="34" charset="-122"/>
                <a:cs typeface="Instrument Sans Semi Bold" pitchFamily="34" charset="-120"/>
              </a:rPr>
              <a:t>THANK YOU</a:t>
            </a:r>
            <a:endParaRPr lang="en-US" sz="4400" dirty="0">
              <a:latin typeface="Amasis MT Pro" panose="02040504050005020304" pitchFamily="18" charset="0"/>
            </a:endParaRPr>
          </a:p>
        </p:txBody>
      </p:sp>
    </p:spTree>
    <p:extLst>
      <p:ext uri="{BB962C8B-B14F-4D97-AF65-F5344CB8AC3E}">
        <p14:creationId xmlns:p14="http://schemas.microsoft.com/office/powerpoint/2010/main" val="1077087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7235044954D2C47ADAD9A52D22816E9" ma:contentTypeVersion="7" ma:contentTypeDescription="Create a new document." ma:contentTypeScope="" ma:versionID="4f7099591c1b93f17ca23d097501cbad">
  <xsd:schema xmlns:xsd="http://www.w3.org/2001/XMLSchema" xmlns:xs="http://www.w3.org/2001/XMLSchema" xmlns:p="http://schemas.microsoft.com/office/2006/metadata/properties" xmlns:ns2="192f7857-b5bf-46bd-a27e-77408f277819" targetNamespace="http://schemas.microsoft.com/office/2006/metadata/properties" ma:root="true" ma:fieldsID="586863e755daffa9e39213f468bed729" ns2:_="">
    <xsd:import namespace="192f7857-b5bf-46bd-a27e-77408f27781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92f7857-b5bf-46bd-a27e-77408f2778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858DECF-84CA-47DD-97B5-224469B5BC30}"/>
</file>

<file path=customXml/itemProps2.xml><?xml version="1.0" encoding="utf-8"?>
<ds:datastoreItem xmlns:ds="http://schemas.openxmlformats.org/officeDocument/2006/customXml" ds:itemID="{14B054E6-C4C0-4408-B622-E56F56AA3859}">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4C988E5-7D74-41CB-AC3D-73EF6F9A7895}">
  <ds:schemaRefs>
    <ds:schemaRef ds:uri="http://schemas.microsoft.com/sharepoint/v3/contenttype/forms"/>
  </ds:schemaRefs>
</ds:datastoreItem>
</file>

<file path=docMetadata/LabelInfo.xml><?xml version="1.0" encoding="utf-8"?>
<clbl:labelList xmlns:clbl="http://schemas.microsoft.com/office/2020/mipLabelMetadata">
  <clbl:label id="{101ce67d-13f2-447a-bb65-0989b89dfdb4}" enabled="0" method="" siteId="{101ce67d-13f2-447a-bb65-0989b89dfdb4}" removed="1"/>
</clbl:labelList>
</file>

<file path=docProps/app.xml><?xml version="1.0" encoding="utf-8"?>
<Properties xmlns="http://schemas.openxmlformats.org/officeDocument/2006/extended-properties" xmlns:vt="http://schemas.openxmlformats.org/officeDocument/2006/docPropsVTypes">
  <Template/>
  <TotalTime>1537</TotalTime>
  <Words>551</Words>
  <Application>Microsoft Office PowerPoint</Application>
  <PresentationFormat>Custom</PresentationFormat>
  <Paragraphs>65</Paragraphs>
  <Slides>10</Slides>
  <Notes>9</Notes>
  <HiddenSlides>0</HiddenSlides>
  <MMClips>1</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Intelligent Invoice Processing &amp; Insights: AI-Driven Financial Management</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Singh, Manish</dc:creator>
  <cp:lastModifiedBy>Singh, Manish</cp:lastModifiedBy>
  <cp:revision>5</cp:revision>
  <dcterms:created xsi:type="dcterms:W3CDTF">2025-08-06T12:20:51Z</dcterms:created>
  <dcterms:modified xsi:type="dcterms:W3CDTF">2025-08-11T13:41:51Z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0x01010017235044954D2C47ADAD9A52D22816E9</vt:lpwstr>
  </property>
</Properties>
</file>